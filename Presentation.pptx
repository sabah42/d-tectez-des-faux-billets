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Roboto"/>
      <p:regular r:id="rId30"/>
      <p:bold r:id="rId31"/>
      <p:italic r:id="rId32"/>
      <p:boldItalic r:id="rId33"/>
    </p:embeddedFont>
    <p:embeddedFont>
      <p:font typeface="Montserrat"/>
      <p:regular r:id="rId34"/>
      <p:bold r:id="rId35"/>
      <p:italic r:id="rId36"/>
      <p:boldItalic r:id="rId37"/>
    </p:embeddedFont>
    <p:embeddedFont>
      <p:font typeface="Roboto Condensed"/>
      <p:regular r:id="rId38"/>
      <p:bold r:id="rId39"/>
      <p:italic r:id="rId40"/>
      <p:boldItalic r:id="rId41"/>
    </p:embeddedFont>
    <p:embeddedFont>
      <p:font typeface="Roboto Light"/>
      <p:regular r:id="rId42"/>
      <p:bold r:id="rId43"/>
      <p:italic r:id="rId44"/>
      <p:boldItalic r:id="rId45"/>
    </p:embeddedFont>
    <p:embeddedFont>
      <p:font typeface="Oswald"/>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italic.fntdata"/><Relationship Id="rId20" Type="http://schemas.openxmlformats.org/officeDocument/2006/relationships/slide" Target="slides/slide14.xml"/><Relationship Id="rId42" Type="http://schemas.openxmlformats.org/officeDocument/2006/relationships/font" Target="fonts/RobotoLight-regular.fntdata"/><Relationship Id="rId41" Type="http://schemas.openxmlformats.org/officeDocument/2006/relationships/font" Target="fonts/RobotoCondensed-boldItalic.fntdata"/><Relationship Id="rId22" Type="http://schemas.openxmlformats.org/officeDocument/2006/relationships/slide" Target="slides/slide16.xml"/><Relationship Id="rId44" Type="http://schemas.openxmlformats.org/officeDocument/2006/relationships/font" Target="fonts/RobotoLight-italic.fntdata"/><Relationship Id="rId21" Type="http://schemas.openxmlformats.org/officeDocument/2006/relationships/slide" Target="slides/slide15.xml"/><Relationship Id="rId43" Type="http://schemas.openxmlformats.org/officeDocument/2006/relationships/font" Target="fonts/RobotoLight-bold.fntdata"/><Relationship Id="rId24" Type="http://schemas.openxmlformats.org/officeDocument/2006/relationships/slide" Target="slides/slide18.xml"/><Relationship Id="rId46" Type="http://schemas.openxmlformats.org/officeDocument/2006/relationships/font" Target="fonts/Oswald-regular.fntdata"/><Relationship Id="rId23" Type="http://schemas.openxmlformats.org/officeDocument/2006/relationships/slide" Target="slides/slide17.xml"/><Relationship Id="rId45" Type="http://schemas.openxmlformats.org/officeDocument/2006/relationships/font" Target="fonts/Roboto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Oswald-bold.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5.xml"/><Relationship Id="rId33" Type="http://schemas.openxmlformats.org/officeDocument/2006/relationships/font" Target="fonts/Roboto-boldItalic.fntdata"/><Relationship Id="rId10" Type="http://schemas.openxmlformats.org/officeDocument/2006/relationships/slide" Target="slides/slide4.xml"/><Relationship Id="rId32" Type="http://schemas.openxmlformats.org/officeDocument/2006/relationships/font" Target="fonts/Roboto-italic.fntdata"/><Relationship Id="rId13" Type="http://schemas.openxmlformats.org/officeDocument/2006/relationships/slide" Target="slides/slide7.xml"/><Relationship Id="rId35" Type="http://schemas.openxmlformats.org/officeDocument/2006/relationships/font" Target="fonts/Montserrat-bold.fntdata"/><Relationship Id="rId12" Type="http://schemas.openxmlformats.org/officeDocument/2006/relationships/slide" Target="slides/slide6.xml"/><Relationship Id="rId34" Type="http://schemas.openxmlformats.org/officeDocument/2006/relationships/font" Target="fonts/Montserrat-regular.fntdata"/><Relationship Id="rId15" Type="http://schemas.openxmlformats.org/officeDocument/2006/relationships/slide" Target="slides/slide9.xml"/><Relationship Id="rId37" Type="http://schemas.openxmlformats.org/officeDocument/2006/relationships/font" Target="fonts/Montserrat-boldItalic.fntdata"/><Relationship Id="rId14" Type="http://schemas.openxmlformats.org/officeDocument/2006/relationships/slide" Target="slides/slide8.xml"/><Relationship Id="rId36" Type="http://schemas.openxmlformats.org/officeDocument/2006/relationships/font" Target="fonts/Montserrat-italic.fntdata"/><Relationship Id="rId17" Type="http://schemas.openxmlformats.org/officeDocument/2006/relationships/slide" Target="slides/slide11.xml"/><Relationship Id="rId39" Type="http://schemas.openxmlformats.org/officeDocument/2006/relationships/font" Target="fonts/RobotoCondensed-bold.fntdata"/><Relationship Id="rId16" Type="http://schemas.openxmlformats.org/officeDocument/2006/relationships/slide" Target="slides/slide10.xml"/><Relationship Id="rId38" Type="http://schemas.openxmlformats.org/officeDocument/2006/relationships/font" Target="fonts/RobotoCondensed-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dfd7f33de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dfd7f33de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a:p>
            <a:pPr indent="0" lvl="0" marL="0" rtl="0" algn="l">
              <a:lnSpc>
                <a:spcPct val="100000"/>
              </a:lnSpc>
              <a:spcBef>
                <a:spcPts val="0"/>
              </a:spcBef>
              <a:spcAft>
                <a:spcPts val="0"/>
              </a:spcAft>
              <a:buSzPts val="1100"/>
              <a:buNone/>
            </a:pPr>
            <a:r>
              <a:t/>
            </a:r>
            <a:endParaRPr/>
          </a:p>
        </p:txBody>
      </p:sp>
      <p:sp>
        <p:nvSpPr>
          <p:cNvPr id="98" name="Google Shape;98;gdfd7f33de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dfd7f33de3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dfd7f33de3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a:p>
            <a:pPr indent="0" lvl="0" marL="0" rtl="0" algn="l">
              <a:lnSpc>
                <a:spcPct val="100000"/>
              </a:lnSpc>
              <a:spcBef>
                <a:spcPts val="0"/>
              </a:spcBef>
              <a:spcAft>
                <a:spcPts val="0"/>
              </a:spcAft>
              <a:buSzPts val="1100"/>
              <a:buNone/>
            </a:pPr>
            <a:r>
              <a:t/>
            </a:r>
            <a:endParaRPr/>
          </a:p>
        </p:txBody>
      </p:sp>
      <p:sp>
        <p:nvSpPr>
          <p:cNvPr id="117" name="Google Shape;117;gdfd7f33de3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dfd7f33de3_0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dfd7f33de3_0_2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 </a:t>
            </a:r>
            <a:endParaRPr/>
          </a:p>
        </p:txBody>
      </p:sp>
      <p:sp>
        <p:nvSpPr>
          <p:cNvPr id="163" name="Google Shape;163;gdfd7f33de3_0_2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dfd7f33de3_0_3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dfd7f33de3_0_3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 Pour répondre à cette </a:t>
            </a:r>
            <a:r>
              <a:rPr lang="fr"/>
              <a:t>problématique nous avons d’abord commencé à importer les données tel que on a téléchargé un fichier de type csv qui contient </a:t>
            </a:r>
            <a:r>
              <a:rPr lang="fr" sz="1200">
                <a:solidFill>
                  <a:schemeClr val="dk1"/>
                </a:solidFill>
                <a:highlight>
                  <a:srgbClr val="FFFFFF"/>
                </a:highlight>
                <a:latin typeface="Montserrat"/>
                <a:ea typeface="Montserrat"/>
                <a:cs typeface="Montserrat"/>
                <a:sym typeface="Montserrat"/>
              </a:rPr>
              <a:t>les caractéristiques géométriques de billets de banque comme la hauteur </a:t>
            </a:r>
            <a:r>
              <a:rPr lang="fr"/>
              <a:t> la marge la </a:t>
            </a:r>
            <a:r>
              <a:rPr lang="fr"/>
              <a:t>diagonale ...</a:t>
            </a:r>
            <a:r>
              <a:rPr lang="fr"/>
              <a:t> etc puis on est passé à l’analyse de la forme des données en utilisant le package panda </a:t>
            </a:r>
            <a:r>
              <a:rPr lang="fr"/>
              <a:t>profiling </a:t>
            </a:r>
            <a:r>
              <a:rPr lang="fr"/>
              <a:t> donc on a 7 variables une variable de type booléen et 6 variables de type numérique 170 billet aucune donnée </a:t>
            </a:r>
            <a:r>
              <a:rPr lang="fr"/>
              <a:t>manquante et pas donnée en double</a:t>
            </a:r>
            <a:r>
              <a:rPr lang="fr"/>
              <a:t>.</a:t>
            </a:r>
            <a:endParaRPr/>
          </a:p>
        </p:txBody>
      </p:sp>
      <p:sp>
        <p:nvSpPr>
          <p:cNvPr id="208" name="Google Shape;208;gdfd7f33de3_0_3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dfd7f33de3_0_4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dfd7f33de3_0_4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puis on est passé à  l’analyse de fond tel que on a fait d’abord </a:t>
            </a:r>
            <a:r>
              <a:rPr lang="fr"/>
              <a:t> l’analyse univariée cad étudier variable par variable commençant par la fonction describe qui donne des statistique diverse pour avoir une idée générale sur notre jeu de donné donc la on peut voir que la taille de notre base de donné est 170 billets </a:t>
            </a:r>
            <a:endParaRPr/>
          </a:p>
        </p:txBody>
      </p:sp>
      <p:sp>
        <p:nvSpPr>
          <p:cNvPr id="256" name="Google Shape;256;gdfd7f33de3_0_4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dfd7f33de3_0_5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dfd7f33de3_0_5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et dans le but de  visualiser la variable target qui est is genuine on a tracé le diagramme circulaire qui présente la proportion des billets par nature et comme on a vu avec la fonction describ  il y’a plus de bons billets que de faux billets avec une pourcentage de 59%.</a:t>
            </a:r>
            <a:endParaRPr/>
          </a:p>
        </p:txBody>
      </p:sp>
      <p:sp>
        <p:nvSpPr>
          <p:cNvPr id="301" name="Google Shape;301;gdfd7f33de3_0_5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dfd7f33de3_0_5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gdfd7f33de3_0_5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et puis on a essayé d’observer la </a:t>
            </a:r>
            <a:r>
              <a:rPr lang="fr"/>
              <a:t>distribution</a:t>
            </a:r>
            <a:r>
              <a:rPr lang="fr"/>
              <a:t> ou la répartition de chaque variable donc  on a tracé </a:t>
            </a:r>
            <a:r>
              <a:rPr lang="fr"/>
              <a:t>les histogrammes</a:t>
            </a:r>
            <a:r>
              <a:rPr lang="fr"/>
              <a:t> de nos </a:t>
            </a:r>
            <a:r>
              <a:rPr lang="fr"/>
              <a:t>différents</a:t>
            </a:r>
            <a:r>
              <a:rPr lang="fr"/>
              <a:t> variables et dans ce slide on a regroupé les variables qui se comportent similaire donc on remarque que les variables margin_up,height left, height right, diagonal  ont une grosse </a:t>
            </a:r>
            <a:r>
              <a:rPr lang="fr"/>
              <a:t>ressemblance</a:t>
            </a:r>
            <a:r>
              <a:rPr lang="fr"/>
              <a:t> tel </a:t>
            </a:r>
            <a:r>
              <a:rPr lang="fr"/>
              <a:t>qu'elles</a:t>
            </a:r>
            <a:r>
              <a:rPr lang="fr"/>
              <a:t> suivent une </a:t>
            </a:r>
            <a:r>
              <a:rPr lang="fr"/>
              <a:t>distribution</a:t>
            </a:r>
            <a:r>
              <a:rPr lang="fr"/>
              <a:t>  normale mais c’est pas toute  </a:t>
            </a:r>
            <a:endParaRPr/>
          </a:p>
        </p:txBody>
      </p:sp>
      <p:sp>
        <p:nvSpPr>
          <p:cNvPr id="346" name="Google Shape;346;gdfd7f33de3_0_5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ddbc13f807_0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gddbc13f807_0_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les deux variables length et margin low ont des </a:t>
            </a:r>
            <a:r>
              <a:rPr lang="fr"/>
              <a:t>distributions</a:t>
            </a:r>
            <a:r>
              <a:rPr lang="fr"/>
              <a:t> asymétrique</a:t>
            </a:r>
            <a:endParaRPr/>
          </a:p>
        </p:txBody>
      </p:sp>
      <p:sp>
        <p:nvSpPr>
          <p:cNvPr id="394" name="Google Shape;394;gddbc13f807_0_2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dfd7f33de3_0_4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dfd7f33de3_0_4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fr">
                <a:solidFill>
                  <a:schemeClr val="dk1"/>
                </a:solidFill>
              </a:rPr>
              <a:t>ensuite on </a:t>
            </a:r>
            <a:r>
              <a:rPr lang="fr" sz="1200">
                <a:solidFill>
                  <a:schemeClr val="dk1"/>
                </a:solidFill>
                <a:highlight>
                  <a:schemeClr val="lt1"/>
                </a:highlight>
                <a:latin typeface="Montserrat"/>
                <a:ea typeface="Montserrat"/>
                <a:cs typeface="Montserrat"/>
                <a:sym typeface="Montserrat"/>
              </a:rPr>
              <a:t>voulais  observer les relations entre ces caractéristiques donc  on a fait des graphiques par paire selon la nature des billets qui est notre objectif cad de voir variable après variable s’il y a une différence entre les vrais et les faux billets et la on remarque que les vrais billets sont généralement plus long que les faux billets et mm au niveau de la marge entre le bord inférieur du billet  et l’image de vrais billets semble inférieur à celle des faux billets.</a:t>
            </a:r>
            <a:endParaRPr/>
          </a:p>
        </p:txBody>
      </p:sp>
      <p:sp>
        <p:nvSpPr>
          <p:cNvPr id="440" name="Google Shape;440;gdfd7f33de3_0_4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dfd7f33de3_0_5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gdfd7f33de3_0_5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et afin de comprendre de mieux possible nos données on a utilisé le heatmap qui montre les corrélations entre les variables donc plus la corrélation est proche de 1 plus les 2 var évolue positivement les une avec les autre donc on peut voir qu’il ya une forte corrélation négative entre  les 2 var is_gennuine et margin low et entre margin  low et length comme </a:t>
            </a:r>
            <a:r>
              <a:rPr lang="fr"/>
              <a:t>il ya</a:t>
            </a:r>
            <a:r>
              <a:rPr lang="fr"/>
              <a:t> aussi une forte corrélation possitive entre les 2 var length et is genuine et entre height_left et height_right. </a:t>
            </a:r>
            <a:endParaRPr/>
          </a:p>
        </p:txBody>
      </p:sp>
      <p:sp>
        <p:nvSpPr>
          <p:cNvPr id="485" name="Google Shape;485;gdfd7f33de3_0_5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dfd7f33de3_0_6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gdfd7f33de3_0_6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Dans le but de trouver un outil </a:t>
            </a:r>
            <a:r>
              <a:rPr lang="fr"/>
              <a:t>permettant</a:t>
            </a:r>
            <a:r>
              <a:rPr lang="fr"/>
              <a:t> de bien situer les billet  selon leur nature et faciliter l’analyse,</a:t>
            </a:r>
            <a:r>
              <a:rPr lang="fr"/>
              <a:t> </a:t>
            </a:r>
            <a:r>
              <a:rPr lang="fr"/>
              <a:t> comme on a des variables quantitative on a eu recours à l’analyse en composante principale qui permet de réduire la dimension de notre dataset qui est de 6 variables tout en conservant les principales informations psq elle projette nos données sur des axes appelé composante principale en minimisant la distance entre nos points et leurs projections et de cette manière on réduit la dimension de notre dataset  toute en préservant au maximum la variance de nos données donc pour trouver la dimension ou le nombre de composante dans quel on va </a:t>
            </a:r>
            <a:r>
              <a:rPr lang="fr"/>
              <a:t>projeter</a:t>
            </a:r>
            <a:r>
              <a:rPr lang="fr"/>
              <a:t> nos données  on a </a:t>
            </a:r>
            <a:r>
              <a:rPr lang="fr"/>
              <a:t>essayé</a:t>
            </a:r>
            <a:r>
              <a:rPr lang="fr"/>
              <a:t> de visualiser le </a:t>
            </a:r>
            <a:r>
              <a:rPr lang="fr"/>
              <a:t>pourcentage</a:t>
            </a:r>
            <a:r>
              <a:rPr lang="fr"/>
              <a:t> de la variance totals de nos données sur chaque composante et la on a remarqué que les deux premiers composante explique exactement 69.4 % de la variance totales de nos données donc on peut dire que la dimension </a:t>
            </a:r>
            <a:r>
              <a:rPr lang="fr"/>
              <a:t>intrinsèque</a:t>
            </a:r>
            <a:r>
              <a:rPr lang="fr"/>
              <a:t> de notre ensemble de données est </a:t>
            </a:r>
            <a:r>
              <a:rPr lang="fr"/>
              <a:t>raisonnablement</a:t>
            </a:r>
            <a:r>
              <a:rPr lang="fr"/>
              <a:t> égale à 2 c’est pour ça on a </a:t>
            </a:r>
            <a:r>
              <a:rPr lang="fr"/>
              <a:t>transformé</a:t>
            </a:r>
            <a:r>
              <a:rPr lang="fr"/>
              <a:t> notre dataframe originale de 6 variables en une data frame de 2 variables.</a:t>
            </a:r>
            <a:endParaRPr/>
          </a:p>
        </p:txBody>
      </p:sp>
      <p:sp>
        <p:nvSpPr>
          <p:cNvPr id="530" name="Google Shape;530;gdfd7f33de3_0_6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ddbc13f807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gddbc13f807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avant de faire la projection des individus sur les deux axes on a essayé d’interpréter les  deux axes f1 et f2 en </a:t>
            </a:r>
            <a:r>
              <a:rPr lang="fr"/>
              <a:t>utilisant le cercle des corrélations qui est la projection des variables sur le premier plan factoriel tel que l’axe des abscisses représente f1</a:t>
            </a:r>
            <a:r>
              <a:rPr lang="fr"/>
              <a:t> et l’axe des ordonnées représente f2 il y a des flèches qui parte de centre leurs projections sur les deux axes représente le </a:t>
            </a:r>
            <a:r>
              <a:rPr lang="fr"/>
              <a:t>coefficient</a:t>
            </a:r>
            <a:r>
              <a:rPr lang="fr"/>
              <a:t> de corrélation entre les variables initials et les variables </a:t>
            </a:r>
            <a:r>
              <a:rPr lang="fr"/>
              <a:t>synthétiques </a:t>
            </a:r>
            <a:r>
              <a:rPr lang="fr"/>
              <a:t> f1 et f2 donc plus les variables sont corrélé plus qu’on peut dire qu’ils sont bien </a:t>
            </a:r>
            <a:r>
              <a:rPr lang="fr"/>
              <a:t>projeté donc les variables les plus corrélé à f1 on a height left height right margin up et margin up elles sont positivement corrélé à f1 et on trouve aussi la variable lenght qui est négativement corrélé a f1 et concernant f2 on a la diagonale  la variable les plus corrélé. </a:t>
            </a:r>
            <a:r>
              <a:rPr lang="fr"/>
              <a:t> </a:t>
            </a:r>
            <a:endParaRPr/>
          </a:p>
        </p:txBody>
      </p:sp>
      <p:sp>
        <p:nvSpPr>
          <p:cNvPr id="576" name="Google Shape;576;gddbc13f807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ddbc13f807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ddbc13f807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la on a fait la projection des billets sur le premier plan factoriel et comme on a déjà fait l’interprétation des deux composantes principales on peut </a:t>
            </a:r>
            <a:r>
              <a:rPr lang="fr"/>
              <a:t>différencier les billets qui ont </a:t>
            </a:r>
            <a:r>
              <a:rPr lang="fr"/>
              <a:t>  une </a:t>
            </a:r>
            <a:r>
              <a:rPr lang="fr"/>
              <a:t>abscisse</a:t>
            </a:r>
            <a:r>
              <a:rPr lang="fr"/>
              <a:t> grande par rapport a ceux qui ont une petite donc qd on se déplace le long de l’axe des </a:t>
            </a:r>
            <a:r>
              <a:rPr lang="fr"/>
              <a:t>abscisses</a:t>
            </a:r>
            <a:r>
              <a:rPr lang="fr"/>
              <a:t> de gauche à droite on se déplace vers les billets qui ont la valeurs de f1 grande et pareil par rapport à F2 donc on constate que les faux billets ont une valeur grande de F1 par rapport au vrai billet et on note aussi </a:t>
            </a:r>
            <a:r>
              <a:rPr lang="fr"/>
              <a:t>qu'il</a:t>
            </a:r>
            <a:r>
              <a:rPr lang="fr"/>
              <a:t> y a une répartition aléatoire sur F2:</a:t>
            </a:r>
            <a:endParaRPr/>
          </a:p>
        </p:txBody>
      </p:sp>
      <p:sp>
        <p:nvSpPr>
          <p:cNvPr id="621" name="Google Shape;621;gddbc13f807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ddbc13f807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gddbc13f807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c'était</a:t>
            </a:r>
            <a:r>
              <a:rPr lang="fr"/>
              <a:t> </a:t>
            </a:r>
            <a:r>
              <a:rPr lang="fr"/>
              <a:t>important d’analyser la qualité de représentation des individus pour voir les billets qui ont bien projeté sur le plan afin de pouvoir  interpréter ses proximité que l’on visualise sur le plan  donc  la représentation est mesuré par le cos au carré de l’angle  entre le vecteur qui part de centre qui va au nuage de l’individu et le vecteur de leur projection donc ce cosinus au carré est calculé axe par axe donc on voit que par exemple  pour  le billet n 143 le cos au carré avec la première dimension vaut 0.97 et avec la deuxième vaut 0.003 donc la qualité de projection sur le plan est 0.98 donc le cos au carré est proche de 1 cela signifie que  l’ongle est très proche de 0 donc on peut dire que les billets 143, 46, 101, et 21 sont  bien projté sur le plan.</a:t>
            </a:r>
            <a:endParaRPr/>
          </a:p>
        </p:txBody>
      </p:sp>
      <p:sp>
        <p:nvSpPr>
          <p:cNvPr id="666" name="Google Shape;666;gddbc13f807_0_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e0e7de9ef5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e0e7de9ef5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et pour enrichir </a:t>
            </a:r>
            <a:r>
              <a:rPr lang="fr"/>
              <a:t>l'interprétation on a calculé</a:t>
            </a:r>
            <a:r>
              <a:rPr lang="fr"/>
              <a:t> </a:t>
            </a:r>
            <a:r>
              <a:rPr lang="fr"/>
              <a:t> la contribution des individus </a:t>
            </a:r>
            <a:r>
              <a:rPr lang="fr"/>
              <a:t> qui est la coordonné au carré de l’individu donc les individus qui ont une forte coordonné c’est eux qui </a:t>
            </a:r>
            <a:r>
              <a:rPr lang="fr"/>
              <a:t>contribuent</a:t>
            </a:r>
            <a:r>
              <a:rPr lang="fr"/>
              <a:t> le plus dans notre cas on a les billets n 166,0, 4 122 et 39 sont eux qui contribuent le plus sur la </a:t>
            </a:r>
            <a:r>
              <a:rPr lang="fr"/>
              <a:t>construction de premier plan factoriel.</a:t>
            </a:r>
            <a:r>
              <a:rPr lang="fr"/>
              <a:t>  </a:t>
            </a:r>
            <a:r>
              <a:rPr lang="fr" sz="1200">
                <a:solidFill>
                  <a:schemeClr val="dk1"/>
                </a:solidFill>
              </a:rPr>
              <a:t>La contribution c'est la part de l'inertie qu'individu fournit à un axe factoriel. La somme des contributions de tous les individus projetés selon un axe est égal à l'inertie de l'axe</a:t>
            </a:r>
            <a:endParaRPr>
              <a:solidFill>
                <a:schemeClr val="dk1"/>
              </a:solidFill>
            </a:endParaRPr>
          </a:p>
        </p:txBody>
      </p:sp>
      <p:sp>
        <p:nvSpPr>
          <p:cNvPr id="711" name="Google Shape;711;ge0e7de9ef5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ddbc13f807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ddbc13f807_0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(dans le but de </a:t>
            </a:r>
            <a:r>
              <a:rPr lang="fr"/>
              <a:t>développer</a:t>
            </a:r>
            <a:r>
              <a:rPr lang="fr"/>
              <a:t> un modèle </a:t>
            </a:r>
            <a:r>
              <a:rPr lang="fr"/>
              <a:t>pour détecter les faux billets</a:t>
            </a:r>
            <a:r>
              <a:rPr lang="fr"/>
              <a:t> )notre objectif est de regrouper les billets selon les caractéristiques géométrique en différents custer similaire donc on a  utilisé un </a:t>
            </a:r>
            <a:r>
              <a:rPr lang="fr"/>
              <a:t>algorithme</a:t>
            </a:r>
            <a:r>
              <a:rPr lang="fr"/>
              <a:t> de clustering de type  kmeans tel que le principe de cette méthode est de placer d’abord les </a:t>
            </a:r>
            <a:r>
              <a:rPr lang="fr"/>
              <a:t>centroïdes</a:t>
            </a:r>
            <a:r>
              <a:rPr lang="fr"/>
              <a:t> au hasard  et puis il affecte chaque point au cluster de </a:t>
            </a:r>
            <a:r>
              <a:rPr lang="fr"/>
              <a:t>centroïde</a:t>
            </a:r>
            <a:r>
              <a:rPr lang="fr"/>
              <a:t> le plus proche ensuite il déplace chaque </a:t>
            </a:r>
            <a:r>
              <a:rPr lang="fr"/>
              <a:t>centroïde</a:t>
            </a:r>
            <a:r>
              <a:rPr lang="fr"/>
              <a:t> au milieu de son cluster et il recommence jusqu’à le </a:t>
            </a:r>
            <a:r>
              <a:rPr lang="fr"/>
              <a:t>centroïdes</a:t>
            </a:r>
            <a:r>
              <a:rPr lang="fr"/>
              <a:t> convergent vers une </a:t>
            </a:r>
            <a:r>
              <a:rPr lang="fr"/>
              <a:t>position</a:t>
            </a:r>
            <a:r>
              <a:rPr lang="fr"/>
              <a:t> </a:t>
            </a:r>
            <a:r>
              <a:rPr lang="fr"/>
              <a:t>d'équilibre</a:t>
            </a:r>
            <a:r>
              <a:rPr lang="fr"/>
              <a:t> et pour choisir le bon nombre des clusters on a appliqué la méthode de coude qui consiste à tracer l’évolution de la variance intra classe en fonction du nombre de clusters et de détecter dans ce graphique une zone de coude et cette zone nous indique le nombre de cluster optimal (celui qui nous permet de réduire au maximum la variance intraclasse tout en conservant un nbr </a:t>
            </a:r>
            <a:r>
              <a:rPr lang="fr"/>
              <a:t>raisonnable</a:t>
            </a:r>
            <a:r>
              <a:rPr lang="fr"/>
              <a:t> de cluster ) dans notre cas le nombre optimal de cluster est 3.  </a:t>
            </a:r>
            <a:endParaRPr/>
          </a:p>
        </p:txBody>
      </p:sp>
      <p:sp>
        <p:nvSpPr>
          <p:cNvPr id="756" name="Google Shape;756;gddbc13f807_0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ddbc13f807_0_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gddbc13f807_0_1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la on a mis ce graphique pour savoir qd les variables sont prises de manière individuelle lesquels ont plus d’impact sur  la séparabilité des clusters donc on peut voir que sur la variables diagonal les deux clusters 1 et 2 ne se distingue pas trop contrairement  au cluster 0 on a aussi la variable height_left a un impact sur la distinction de cluster 1 par rapport aux clusters 0 et 2 et les deux variables </a:t>
            </a:r>
            <a:r>
              <a:rPr lang="fr">
                <a:solidFill>
                  <a:schemeClr val="dk1"/>
                </a:solidFill>
              </a:rPr>
              <a:t>length et margin low</a:t>
            </a:r>
            <a:r>
              <a:rPr lang="fr"/>
              <a:t> ont  joué un rôle important sur la </a:t>
            </a:r>
            <a:r>
              <a:rPr lang="fr">
                <a:solidFill>
                  <a:schemeClr val="dk1"/>
                </a:solidFill>
              </a:rPr>
              <a:t>séparabilité</a:t>
            </a:r>
            <a:r>
              <a:rPr lang="fr"/>
              <a:t> de cluster 2 par rapport aux clusters 0 et 1.</a:t>
            </a:r>
            <a:endParaRPr/>
          </a:p>
        </p:txBody>
      </p:sp>
      <p:sp>
        <p:nvSpPr>
          <p:cNvPr id="803" name="Google Shape;803;gddbc13f807_0_1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ddbc13f807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gddbc13f807_0_2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ensuite on a </a:t>
            </a:r>
            <a:r>
              <a:rPr lang="fr"/>
              <a:t>essayé</a:t>
            </a:r>
            <a:r>
              <a:rPr lang="fr"/>
              <a:t> de visualiser les trois clusters sur le premier plan factoriel  pour qu’on puisse faire la </a:t>
            </a:r>
            <a:r>
              <a:rPr lang="fr"/>
              <a:t>comparaison entre la classification initiale psq notre dataset  est déjà classé on a des faux et des vrais billets </a:t>
            </a:r>
            <a:r>
              <a:rPr lang="fr"/>
              <a:t> et la classification qui résultent de </a:t>
            </a:r>
            <a:r>
              <a:rPr lang="fr"/>
              <a:t>l'algorithme k_means donc le résultat obtenu c’est trois clusters  </a:t>
            </a:r>
            <a:r>
              <a:rPr lang="fr"/>
              <a:t> cela signifie que les groupes qui ont été créé par le k_means ne sont pas suffisant adapté à notre problème  pour pouvoir classifier les vrais et les faux billets </a:t>
            </a:r>
            <a:endParaRPr/>
          </a:p>
        </p:txBody>
      </p:sp>
      <p:sp>
        <p:nvSpPr>
          <p:cNvPr id="848" name="Google Shape;848;gddbc13f807_0_2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e0e7de9ef5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ge0e7de9ef5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c’est pour ça on a utilisé une méthode de classification supervisé qui est le knn qui est de principe de </a:t>
            </a:r>
            <a:r>
              <a:rPr lang="fr"/>
              <a:t>classifier les données par rapports à la classification de voisin le plus proche</a:t>
            </a:r>
            <a:r>
              <a:rPr lang="fr"/>
              <a:t>  mais avant </a:t>
            </a:r>
            <a:r>
              <a:rPr lang="fr"/>
              <a:t>l'utiliser il faut d’abord diviser notre jeu de données en 2 partie donc on a pris 80% des données comme données d'entraînement et 20% de données comme données de test  pour qu’on puisse </a:t>
            </a:r>
            <a:r>
              <a:rPr lang="fr"/>
              <a:t> évaluer la performance de notre modèle pour faire la division aléatoirement on a utilisé la fonction train test split </a:t>
            </a:r>
            <a:endParaRPr/>
          </a:p>
        </p:txBody>
      </p:sp>
      <p:sp>
        <p:nvSpPr>
          <p:cNvPr id="893" name="Google Shape;893;ge0e7de9ef5_0_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e0e7de9ef5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ge0e7de9ef5_0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ensuite on a appliqué la méthode KNN sur les données </a:t>
            </a:r>
            <a:r>
              <a:rPr lang="fr"/>
              <a:t>d'entraînement</a:t>
            </a:r>
            <a:r>
              <a:rPr lang="fr"/>
              <a:t> et  puis on a essayé </a:t>
            </a:r>
            <a:r>
              <a:rPr lang="fr"/>
              <a:t>d'évaluer</a:t>
            </a:r>
            <a:r>
              <a:rPr lang="fr"/>
              <a:t> la qualité de modèle de classification obtenu donc on a créé une matrice de </a:t>
            </a:r>
            <a:r>
              <a:rPr lang="fr"/>
              <a:t>confusion </a:t>
            </a:r>
            <a:r>
              <a:rPr lang="fr"/>
              <a:t> qui montre les </a:t>
            </a:r>
            <a:r>
              <a:rPr lang="fr"/>
              <a:t>erreurs</a:t>
            </a:r>
            <a:r>
              <a:rPr lang="fr"/>
              <a:t> de classement </a:t>
            </a:r>
            <a:r>
              <a:rPr lang="fr">
                <a:solidFill>
                  <a:schemeClr val="dk1"/>
                </a:solidFill>
                <a:highlight>
                  <a:srgbClr val="FFFFFF"/>
                </a:highlight>
                <a:latin typeface="Georgia"/>
                <a:ea typeface="Georgia"/>
                <a:cs typeface="Georgia"/>
                <a:sym typeface="Georgia"/>
              </a:rPr>
              <a:t> donc la matrice nous sort 4 chiffres ici on est sur le nbr de billets qui étaient faux  avec  le modèle  a prédit faux ici on est sur le nbr de billet qui est normalement faux mais le modèle a prédit vrai  ici c’est le nbr de billets qui devrait être vrai mais le modèle a prédit faux et ici le nbr de billet qui était vrai et le modèle a prédit vrai </a:t>
            </a:r>
            <a:r>
              <a:rPr lang="fr">
                <a:solidFill>
                  <a:schemeClr val="dk1"/>
                </a:solidFill>
                <a:highlight>
                  <a:srgbClr val="FFFFFF"/>
                </a:highlight>
                <a:latin typeface="Georgia"/>
                <a:ea typeface="Georgia"/>
                <a:cs typeface="Georgia"/>
                <a:sym typeface="Georgia"/>
              </a:rPr>
              <a:t>  donc on a 2 erreur de classification ça ce que nous permet de conclure que on aurait 94%  de réussit avec ce modèle.à la fin on a créé une fonction qui permet de détecter la nature de billet avec ce modèle de classification.</a:t>
            </a:r>
            <a:endParaRPr/>
          </a:p>
        </p:txBody>
      </p:sp>
      <p:sp>
        <p:nvSpPr>
          <p:cNvPr id="938" name="Google Shape;938;ge0e7de9ef5_0_1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ddbc13f807_0_3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gddbc13f807_0_3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afin de trouver un modèle le mieu adapté  à notre base de données  on a utilisé la régression logistique vue qu’on veut modéliser et </a:t>
            </a:r>
            <a:r>
              <a:rPr lang="fr"/>
              <a:t>classifier</a:t>
            </a:r>
            <a:r>
              <a:rPr lang="fr"/>
              <a:t>  les billets ( var binaire) soit  des vrais ou faux billets en fonction de ses caractéristique  géométrique donc </a:t>
            </a:r>
            <a:r>
              <a:rPr lang="fr"/>
              <a:t>d'abord</a:t>
            </a:r>
            <a:r>
              <a:rPr lang="fr"/>
              <a:t> on a par  </a:t>
            </a:r>
            <a:r>
              <a:rPr lang="fr" sz="1050">
                <a:solidFill>
                  <a:srgbClr val="333333"/>
                </a:solidFill>
                <a:highlight>
                  <a:srgbClr val="FFFFFF"/>
                </a:highlight>
              </a:rPr>
              <a:t>L’estimation des paramètres du modèle avec  la méthode du maximum de vraisemblance et puis on a réalisé un test pour vérifier si </a:t>
            </a:r>
            <a:r>
              <a:rPr lang="fr" sz="1050">
                <a:solidFill>
                  <a:srgbClr val="333333"/>
                </a:solidFill>
                <a:highlight>
                  <a:srgbClr val="FFFFFF"/>
                </a:highlight>
              </a:rPr>
              <a:t>paramètres</a:t>
            </a:r>
            <a:r>
              <a:rPr lang="fr" sz="1050">
                <a:solidFill>
                  <a:srgbClr val="333333"/>
                </a:solidFill>
                <a:highlight>
                  <a:srgbClr val="FFFFFF"/>
                </a:highlight>
              </a:rPr>
              <a:t> </a:t>
            </a:r>
            <a:r>
              <a:rPr lang="fr" sz="1050">
                <a:solidFill>
                  <a:srgbClr val="333333"/>
                </a:solidFill>
                <a:highlight>
                  <a:srgbClr val="FFFFFF"/>
                </a:highlight>
              </a:rPr>
              <a:t>estimé  des différents variables sont significativement différents de zéro psq si le coefficient  ll est proche de zéro ça veut dire que la variable c’est pas vraiment utile pour prédir donc on a mis un seuil de significativité alpha qui est 0.05 et la on a trouvé que les variables length et margin low sont importantes pour une  prédiction </a:t>
            </a:r>
            <a:endParaRPr sz="1050">
              <a:solidFill>
                <a:srgbClr val="333333"/>
              </a:solidFill>
              <a:highlight>
                <a:srgbClr val="FFFFFF"/>
              </a:highlight>
            </a:endParaRPr>
          </a:p>
          <a:p>
            <a:pPr indent="0" lvl="0" marL="0" rtl="0" algn="l">
              <a:lnSpc>
                <a:spcPct val="100000"/>
              </a:lnSpc>
              <a:spcBef>
                <a:spcPts val="0"/>
              </a:spcBef>
              <a:spcAft>
                <a:spcPts val="0"/>
              </a:spcAft>
              <a:buSzPts val="1100"/>
              <a:buNone/>
            </a:pPr>
            <a:r>
              <a:rPr lang="fr" sz="1050">
                <a:solidFill>
                  <a:srgbClr val="333333"/>
                </a:solidFill>
                <a:highlight>
                  <a:srgbClr val="FFFFFF"/>
                </a:highlight>
              </a:rPr>
              <a:t>c’est facile de savoir comment le modèle va faire la prédiction donc il faut juste </a:t>
            </a:r>
            <a:r>
              <a:rPr lang="fr" sz="1050">
                <a:solidFill>
                  <a:srgbClr val="333333"/>
                </a:solidFill>
                <a:highlight>
                  <a:srgbClr val="FFFFFF"/>
                </a:highlight>
              </a:rPr>
              <a:t>regarder les coefficients des différents variables</a:t>
            </a:r>
            <a:endParaRPr sz="1050">
              <a:solidFill>
                <a:srgbClr val="333333"/>
              </a:solidFill>
              <a:highlight>
                <a:srgbClr val="FFFFFF"/>
              </a:highlight>
            </a:endParaRPr>
          </a:p>
          <a:p>
            <a:pPr indent="0" lvl="0" marL="457200" rtl="0" algn="l">
              <a:lnSpc>
                <a:spcPct val="115000"/>
              </a:lnSpc>
              <a:spcBef>
                <a:spcPts val="0"/>
              </a:spcBef>
              <a:spcAft>
                <a:spcPts val="0"/>
              </a:spcAft>
              <a:buNone/>
            </a:pPr>
            <a:r>
              <a:t/>
            </a:r>
            <a:endParaRPr sz="1050">
              <a:solidFill>
                <a:srgbClr val="333333"/>
              </a:solidFill>
              <a:highlight>
                <a:srgbClr val="FFFFFF"/>
              </a:highlight>
            </a:endParaRPr>
          </a:p>
          <a:p>
            <a:pPr indent="0" lvl="0" marL="0" rtl="0" algn="l">
              <a:lnSpc>
                <a:spcPct val="100000"/>
              </a:lnSpc>
              <a:spcBef>
                <a:spcPts val="800"/>
              </a:spcBef>
              <a:spcAft>
                <a:spcPts val="0"/>
              </a:spcAft>
              <a:buSzPts val="1100"/>
              <a:buNone/>
            </a:pPr>
            <a:r>
              <a:t/>
            </a:r>
            <a:endParaRPr/>
          </a:p>
        </p:txBody>
      </p:sp>
      <p:sp>
        <p:nvSpPr>
          <p:cNvPr id="985" name="Google Shape;985;gddbc13f807_0_3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e0e7de9ef5_0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2" name="Google Shape;1032;ge0e7de9ef5_0_1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la on a </a:t>
            </a:r>
            <a:r>
              <a:rPr lang="fr"/>
              <a:t>essayé</a:t>
            </a:r>
            <a:r>
              <a:rPr lang="fr"/>
              <a:t> </a:t>
            </a:r>
            <a:r>
              <a:rPr lang="fr"/>
              <a:t>d'évaluer</a:t>
            </a:r>
            <a:r>
              <a:rPr lang="fr"/>
              <a:t> la qualité de modèle on a créé une matrice de confusion et la on a trouvé 0 </a:t>
            </a:r>
            <a:r>
              <a:rPr lang="fr"/>
              <a:t>erreur</a:t>
            </a:r>
            <a:r>
              <a:rPr lang="fr"/>
              <a:t> de classification pour les données de test donc ce modèle est adapté à  </a:t>
            </a:r>
            <a:r>
              <a:rPr lang="fr">
                <a:solidFill>
                  <a:schemeClr val="dk1"/>
                </a:solidFill>
              </a:rPr>
              <a:t>notre problème </a:t>
            </a:r>
            <a:r>
              <a:rPr lang="fr"/>
              <a:t>puis on a créé un programme </a:t>
            </a:r>
            <a:r>
              <a:rPr lang="fr" sz="1200">
                <a:solidFill>
                  <a:schemeClr val="dk1"/>
                </a:solidFill>
                <a:highlight>
                  <a:srgbClr val="FFFFFF"/>
                </a:highlight>
              </a:rPr>
              <a:t>capable d'effectuer une prédiction sur un billet cad de déterminer s’il s’agit d’un vrai ou d’un faux billet </a:t>
            </a:r>
            <a:r>
              <a:rPr lang="fr"/>
              <a:t>  </a:t>
            </a:r>
            <a:endParaRPr/>
          </a:p>
        </p:txBody>
      </p:sp>
      <p:sp>
        <p:nvSpPr>
          <p:cNvPr id="1033" name="Google Shape;1033;ge0e7de9ef5_0_1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e0e7de9ef5_0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1" name="Google Shape;1081;ge0e7de9ef5_0_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fr">
                <a:solidFill>
                  <a:schemeClr val="dk1"/>
                </a:solidFill>
              </a:rPr>
              <a:t>à la fin on peut  conclure que le modèle de la régression logistique est mieu adapté à notre problème donc on a pas besoin </a:t>
            </a:r>
            <a:r>
              <a:rPr lang="fr">
                <a:solidFill>
                  <a:schemeClr val="dk1"/>
                </a:solidFill>
                <a:highlight>
                  <a:srgbClr val="FFFFFF"/>
                </a:highlight>
                <a:latin typeface="Georgia"/>
                <a:ea typeface="Georgia"/>
                <a:cs typeface="Georgia"/>
                <a:sym typeface="Georgia"/>
              </a:rPr>
              <a:t>d’avoir des modèles plutôt complexes </a:t>
            </a:r>
            <a:r>
              <a:rPr lang="fr">
                <a:solidFill>
                  <a:schemeClr val="dk1"/>
                </a:solidFill>
              </a:rPr>
              <a:t>  </a:t>
            </a:r>
            <a:endParaRPr/>
          </a:p>
        </p:txBody>
      </p:sp>
      <p:sp>
        <p:nvSpPr>
          <p:cNvPr id="1082" name="Google Shape;1082;ge0e7de9ef5_0_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62" name="Google Shape;6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5" name="Google Shape;6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66" name="Google Shape;6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9" name="Google Shape;69;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70" name="Google Shape;70;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71" name="Google Shape;7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4" name="Google Shape;7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7" name="Google Shape;77;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78" name="Google Shape;7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2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81" name="Google Shape;8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5" name="Google Shape;85;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6" name="Google Shape;86;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87" name="Google Shape;8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rtl="0" algn="l">
              <a:lnSpc>
                <a:spcPct val="100000"/>
              </a:lnSpc>
              <a:spcBef>
                <a:spcPts val="0"/>
              </a:spcBef>
              <a:spcAft>
                <a:spcPts val="0"/>
              </a:spcAft>
              <a:buSzPts val="1800"/>
              <a:buNone/>
              <a:defRPr/>
            </a:lvl1pPr>
          </a:lstStyle>
          <a:p/>
        </p:txBody>
      </p:sp>
      <p:sp>
        <p:nvSpPr>
          <p:cNvPr id="90" name="Google Shape;9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93" name="Google Shape;93;p2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1600"/>
              </a:spcBef>
              <a:spcAft>
                <a:spcPts val="0"/>
              </a:spcAft>
              <a:buSzPts val="1400"/>
              <a:buChar char="○"/>
              <a:defRPr/>
            </a:lvl2pPr>
            <a:lvl3pPr indent="-317500" lvl="2" marL="1371600" rtl="0" algn="ctr">
              <a:lnSpc>
                <a:spcPct val="115000"/>
              </a:lnSpc>
              <a:spcBef>
                <a:spcPts val="1600"/>
              </a:spcBef>
              <a:spcAft>
                <a:spcPts val="0"/>
              </a:spcAft>
              <a:buSzPts val="1400"/>
              <a:buChar char="■"/>
              <a:defRPr/>
            </a:lvl3pPr>
            <a:lvl4pPr indent="-317500" lvl="3" marL="1828800" rtl="0" algn="ctr">
              <a:lnSpc>
                <a:spcPct val="115000"/>
              </a:lnSpc>
              <a:spcBef>
                <a:spcPts val="1600"/>
              </a:spcBef>
              <a:spcAft>
                <a:spcPts val="0"/>
              </a:spcAft>
              <a:buSzPts val="1400"/>
              <a:buChar char="●"/>
              <a:defRPr/>
            </a:lvl4pPr>
            <a:lvl5pPr indent="-317500" lvl="4" marL="2286000" rtl="0" algn="ctr">
              <a:lnSpc>
                <a:spcPct val="115000"/>
              </a:lnSpc>
              <a:spcBef>
                <a:spcPts val="1600"/>
              </a:spcBef>
              <a:spcAft>
                <a:spcPts val="0"/>
              </a:spcAft>
              <a:buSzPts val="1400"/>
              <a:buChar char="○"/>
              <a:defRPr/>
            </a:lvl5pPr>
            <a:lvl6pPr indent="-317500" lvl="5" marL="2743200" rtl="0" algn="ctr">
              <a:lnSpc>
                <a:spcPct val="115000"/>
              </a:lnSpc>
              <a:spcBef>
                <a:spcPts val="1600"/>
              </a:spcBef>
              <a:spcAft>
                <a:spcPts val="0"/>
              </a:spcAft>
              <a:buSzPts val="1400"/>
              <a:buChar char="■"/>
              <a:defRPr/>
            </a:lvl6pPr>
            <a:lvl7pPr indent="-317500" lvl="6" marL="3200400" rtl="0" algn="ctr">
              <a:lnSpc>
                <a:spcPct val="115000"/>
              </a:lnSpc>
              <a:spcBef>
                <a:spcPts val="1600"/>
              </a:spcBef>
              <a:spcAft>
                <a:spcPts val="0"/>
              </a:spcAft>
              <a:buSzPts val="1400"/>
              <a:buChar char="●"/>
              <a:defRPr/>
            </a:lvl7pPr>
            <a:lvl8pPr indent="-317500" lvl="7" marL="3657600" rtl="0" algn="ctr">
              <a:lnSpc>
                <a:spcPct val="115000"/>
              </a:lnSpc>
              <a:spcBef>
                <a:spcPts val="1600"/>
              </a:spcBef>
              <a:spcAft>
                <a:spcPts val="0"/>
              </a:spcAft>
              <a:buSzPts val="1400"/>
              <a:buChar char="○"/>
              <a:defRPr/>
            </a:lvl8pPr>
            <a:lvl9pPr indent="-317500" lvl="8" marL="4114800" rtl="0" algn="ctr">
              <a:lnSpc>
                <a:spcPct val="115000"/>
              </a:lnSpc>
              <a:spcBef>
                <a:spcPts val="1600"/>
              </a:spcBef>
              <a:spcAft>
                <a:spcPts val="1600"/>
              </a:spcAft>
              <a:buSzPts val="1400"/>
              <a:buChar char="■"/>
              <a:defRPr/>
            </a:lvl9pPr>
          </a:lstStyle>
          <a:p/>
        </p:txBody>
      </p:sp>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slide" Target="/ppt/slid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slide" Target="/ppt/slides/slide4.xml"/><Relationship Id="rId5" Type="http://schemas.openxmlformats.org/officeDocument/2006/relationships/image" Target="../media/image3.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slide" Target="/ppt/slides/slide5.xm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slide" Target="/ppt/slides/slide6.xml"/><Relationship Id="rId5"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slide" Target="/ppt/slides/slide7.xml"/><Relationship Id="rId5" Type="http://schemas.openxmlformats.org/officeDocument/2006/relationships/image" Target="../media/image7.jpg"/><Relationship Id="rId6" Type="http://schemas.openxmlformats.org/officeDocument/2006/relationships/image" Target="../media/image10.jpg"/><Relationship Id="rId7" Type="http://schemas.openxmlformats.org/officeDocument/2006/relationships/image" Target="../media/image2.jpg"/><Relationship Id="rId8"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slide" Target="/ppt/slides/slide8.xml"/><Relationship Id="rId5" Type="http://schemas.openxmlformats.org/officeDocument/2006/relationships/image" Target="../media/image13.jpg"/><Relationship Id="rId6"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slide" Target="/ppt/slides/slide9.xml"/><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slide" Target="/ppt/slides/slide10.xml"/><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slide" Target="/ppt/slides/slide11.xml"/><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slide" Target="/ppt/slides/slide12.xml"/><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slide" Target="/ppt/slides/slide13.xml"/><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slide" Target="/ppt/slides/slide14.xml"/><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slide" Target="/ppt/slides/slide15.xml"/><Relationship Id="rId5"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slide" Target="/ppt/slides/slide16.xml"/><Relationship Id="rId5"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slide" Target="/ppt/slides/slide17.xml"/><Relationship Id="rId5"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slide" Target="/ppt/slides/slide18.xml"/><Relationship Id="rId5"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slide" Target="/ppt/slides/slide19.xml"/><Relationship Id="rId5"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slide" Target="/ppt/slides/slide20.xml"/><Relationship Id="rId5" Type="http://schemas.openxmlformats.org/officeDocument/2006/relationships/image" Target="../media/image28.png"/><Relationship Id="rId6" Type="http://schemas.openxmlformats.org/officeDocument/2006/relationships/image" Target="../media/image11.png"/><Relationship Id="rId7"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slide" Target="/ppt/slides/slide21.xml"/><Relationship Id="rId5" Type="http://schemas.openxmlformats.org/officeDocument/2006/relationships/image" Target="../media/image22.png"/><Relationship Id="rId6"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slide" Target="/ppt/slides/slide22.xml"/><Relationship Id="rId5" Type="http://schemas.openxmlformats.org/officeDocument/2006/relationships/image" Target="../media/image25.png"/><Relationship Id="rId6" Type="http://schemas.openxmlformats.org/officeDocument/2006/relationships/image" Target="../media/image24.png"/><Relationship Id="rId7"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slide" Target="/ppt/slid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grpSp>
        <p:nvGrpSpPr>
          <p:cNvPr id="100" name="Google Shape;100;p25"/>
          <p:cNvGrpSpPr/>
          <p:nvPr/>
        </p:nvGrpSpPr>
        <p:grpSpPr>
          <a:xfrm>
            <a:off x="990624" y="2102004"/>
            <a:ext cx="7341896" cy="1193556"/>
            <a:chOff x="1730326" y="1233125"/>
            <a:chExt cx="8199572" cy="708300"/>
          </a:xfrm>
        </p:grpSpPr>
        <p:sp>
          <p:nvSpPr>
            <p:cNvPr id="101" name="Google Shape;101;p25"/>
            <p:cNvSpPr/>
            <p:nvPr/>
          </p:nvSpPr>
          <p:spPr>
            <a:xfrm>
              <a:off x="1730326" y="1233125"/>
              <a:ext cx="7765500" cy="70830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02" name="Google Shape;102;p25"/>
            <p:cNvSpPr txBox="1"/>
            <p:nvPr/>
          </p:nvSpPr>
          <p:spPr>
            <a:xfrm>
              <a:off x="3171498" y="1356419"/>
              <a:ext cx="6758400" cy="4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lang="fr" sz="3200">
                  <a:solidFill>
                    <a:schemeClr val="dk1"/>
                  </a:solidFill>
                  <a:highlight>
                    <a:schemeClr val="lt1"/>
                  </a:highlight>
                  <a:latin typeface="Roboto Condensed"/>
                  <a:ea typeface="Roboto Condensed"/>
                  <a:cs typeface="Roboto Condensed"/>
                  <a:sym typeface="Roboto Condensed"/>
                </a:rPr>
                <a:t>Détectez des faux billets</a:t>
              </a:r>
              <a:endParaRPr b="1" sz="3200">
                <a:solidFill>
                  <a:schemeClr val="dk1"/>
                </a:solidFill>
                <a:highlight>
                  <a:schemeClr val="lt1"/>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Clr>
                  <a:srgbClr val="000000"/>
                </a:buClr>
                <a:buSzPts val="1800"/>
                <a:buFont typeface="Arial"/>
                <a:buNone/>
              </a:pPr>
              <a:r>
                <a:rPr b="1" i="0" lang="fr" sz="1800" u="none" cap="none" strike="noStrike">
                  <a:solidFill>
                    <a:srgbClr val="0B1107"/>
                  </a:solidFill>
                  <a:latin typeface="Calibri"/>
                  <a:ea typeface="Calibri"/>
                  <a:cs typeface="Calibri"/>
                  <a:sym typeface="Calibri"/>
                </a:rPr>
                <a:t> </a:t>
              </a:r>
              <a:endParaRPr b="0" i="0" sz="1800" u="none" cap="none" strike="noStrike">
                <a:solidFill>
                  <a:srgbClr val="0B1107"/>
                </a:solidFill>
                <a:latin typeface="Calibri"/>
                <a:ea typeface="Calibri"/>
                <a:cs typeface="Calibri"/>
                <a:sym typeface="Calibri"/>
              </a:endParaRPr>
            </a:p>
          </p:txBody>
        </p:sp>
      </p:grpSp>
      <p:sp>
        <p:nvSpPr>
          <p:cNvPr id="103" name="Google Shape;103;p25"/>
          <p:cNvSpPr/>
          <p:nvPr/>
        </p:nvSpPr>
        <p:spPr>
          <a:xfrm>
            <a:off x="-103238" y="0"/>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04" name="Google Shape;104;p25"/>
          <p:cNvSpPr txBox="1"/>
          <p:nvPr/>
        </p:nvSpPr>
        <p:spPr>
          <a:xfrm>
            <a:off x="2417934" y="1541675"/>
            <a:ext cx="49353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B1107"/>
              </a:solidFill>
              <a:latin typeface="Calibri"/>
              <a:ea typeface="Calibri"/>
              <a:cs typeface="Calibri"/>
              <a:sym typeface="Calibri"/>
            </a:endParaRPr>
          </a:p>
        </p:txBody>
      </p:sp>
      <p:sp>
        <p:nvSpPr>
          <p:cNvPr id="105" name="Google Shape;105;p25"/>
          <p:cNvSpPr txBox="1"/>
          <p:nvPr/>
        </p:nvSpPr>
        <p:spPr>
          <a:xfrm>
            <a:off x="8381534" y="4451663"/>
            <a:ext cx="2490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06" name="Google Shape;106;p25"/>
          <p:cNvSpPr/>
          <p:nvPr/>
        </p:nvSpPr>
        <p:spPr>
          <a:xfrm>
            <a:off x="-103238" y="-69574"/>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07" name="Google Shape;107;p25"/>
          <p:cNvSpPr txBox="1"/>
          <p:nvPr/>
        </p:nvSpPr>
        <p:spPr>
          <a:xfrm>
            <a:off x="279150" y="-17925"/>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108" name="Google Shape;108;p25"/>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109" name="Google Shape;109;p25"/>
          <p:cNvSpPr txBox="1"/>
          <p:nvPr/>
        </p:nvSpPr>
        <p:spPr>
          <a:xfrm>
            <a:off x="8711953" y="4732361"/>
            <a:ext cx="224603" cy="68927"/>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chemeClr val="lt1"/>
              </a:solidFill>
              <a:latin typeface="Oswald"/>
              <a:ea typeface="Oswald"/>
              <a:cs typeface="Oswald"/>
              <a:sym typeface="Oswald"/>
            </a:endParaRPr>
          </a:p>
        </p:txBody>
      </p:sp>
      <p:sp>
        <p:nvSpPr>
          <p:cNvPr id="110" name="Google Shape;110;p25"/>
          <p:cNvSpPr txBox="1"/>
          <p:nvPr/>
        </p:nvSpPr>
        <p:spPr>
          <a:xfrm>
            <a:off x="140550" y="4017275"/>
            <a:ext cx="1806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500">
                <a:solidFill>
                  <a:srgbClr val="FF9800"/>
                </a:solidFill>
              </a:rPr>
              <a:t>Présenté par:</a:t>
            </a:r>
            <a:endParaRPr sz="1500">
              <a:solidFill>
                <a:schemeClr val="dk1"/>
              </a:solidFill>
            </a:endParaRPr>
          </a:p>
          <a:p>
            <a:pPr indent="0" lvl="0" marL="0" rtl="0" algn="l">
              <a:spcBef>
                <a:spcPts val="0"/>
              </a:spcBef>
              <a:spcAft>
                <a:spcPts val="0"/>
              </a:spcAft>
              <a:buNone/>
            </a:pPr>
            <a:r>
              <a:rPr b="1" lang="fr" sz="1500">
                <a:solidFill>
                  <a:srgbClr val="002060"/>
                </a:solidFill>
              </a:rPr>
              <a:t>  </a:t>
            </a:r>
            <a:r>
              <a:rPr b="1" lang="fr" sz="1500">
                <a:solidFill>
                  <a:schemeClr val="dk1"/>
                </a:solidFill>
              </a:rPr>
              <a:t> ASSAS Sabah</a:t>
            </a:r>
            <a:endParaRPr sz="1700">
              <a:solidFill>
                <a:schemeClr val="dk1"/>
              </a:solidFill>
            </a:endParaRPr>
          </a:p>
        </p:txBody>
      </p:sp>
      <p:sp>
        <p:nvSpPr>
          <p:cNvPr id="111" name="Google Shape;111;p25"/>
          <p:cNvSpPr/>
          <p:nvPr/>
        </p:nvSpPr>
        <p:spPr>
          <a:xfrm>
            <a:off x="5319600" y="4408475"/>
            <a:ext cx="3824400" cy="486600"/>
          </a:xfrm>
          <a:prstGeom prst="horizontalScroll">
            <a:avLst>
              <a:gd fmla="val 12500" name="adj"/>
            </a:avLst>
          </a:prstGeom>
          <a:solidFill>
            <a:srgbClr val="00778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F5913F"/>
              </a:highlight>
            </a:endParaRPr>
          </a:p>
        </p:txBody>
      </p:sp>
      <p:sp>
        <p:nvSpPr>
          <p:cNvPr id="112" name="Google Shape;112;p25"/>
          <p:cNvSpPr txBox="1"/>
          <p:nvPr/>
        </p:nvSpPr>
        <p:spPr>
          <a:xfrm>
            <a:off x="6109950" y="4451675"/>
            <a:ext cx="282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2060"/>
              </a:buClr>
              <a:buSzPts val="1400"/>
              <a:buFont typeface="Roboto Condensed"/>
              <a:buNone/>
            </a:pPr>
            <a:r>
              <a:rPr b="1" lang="fr">
                <a:solidFill>
                  <a:schemeClr val="lt1"/>
                </a:solidFill>
                <a:latin typeface="Roboto Condensed"/>
                <a:ea typeface="Roboto Condensed"/>
                <a:cs typeface="Roboto Condensed"/>
                <a:sym typeface="Roboto Condensed"/>
              </a:rPr>
              <a:t>Soutenu</a:t>
            </a:r>
            <a:r>
              <a:rPr b="1" lang="fr">
                <a:solidFill>
                  <a:schemeClr val="lt1"/>
                </a:solidFill>
              </a:rPr>
              <a:t> le 31/06/2021</a:t>
            </a:r>
            <a:endParaRPr>
              <a:solidFill>
                <a:schemeClr val="lt1"/>
              </a:solidFill>
            </a:endParaRPr>
          </a:p>
        </p:txBody>
      </p:sp>
      <p:sp>
        <p:nvSpPr>
          <p:cNvPr id="113" name="Google Shape;113;p25"/>
          <p:cNvSpPr txBox="1"/>
          <p:nvPr/>
        </p:nvSpPr>
        <p:spPr>
          <a:xfrm>
            <a:off x="2879825" y="237875"/>
            <a:ext cx="5750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000"/>
              <a:buFont typeface="Arial"/>
              <a:buNone/>
            </a:pPr>
            <a:r>
              <a:rPr b="1" i="1" lang="fr" sz="2000">
                <a:solidFill>
                  <a:schemeClr val="lt1"/>
                </a:solidFill>
                <a:latin typeface="Times New Roman"/>
                <a:ea typeface="Times New Roman"/>
                <a:cs typeface="Times New Roman"/>
                <a:sym typeface="Times New Roman"/>
              </a:rPr>
              <a:t>Parcours de Data Analyst</a:t>
            </a:r>
            <a:endParaRPr>
              <a:solidFill>
                <a:schemeClr val="lt1"/>
              </a:solidFill>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grpSp>
        <p:nvGrpSpPr>
          <p:cNvPr id="119" name="Google Shape;119;p26"/>
          <p:cNvGrpSpPr/>
          <p:nvPr/>
        </p:nvGrpSpPr>
        <p:grpSpPr>
          <a:xfrm>
            <a:off x="1973598" y="716018"/>
            <a:ext cx="5824125" cy="531225"/>
            <a:chOff x="1730326" y="1039692"/>
            <a:chExt cx="7765500" cy="708300"/>
          </a:xfrm>
        </p:grpSpPr>
        <p:sp>
          <p:nvSpPr>
            <p:cNvPr id="120" name="Google Shape;120;p26"/>
            <p:cNvSpPr/>
            <p:nvPr/>
          </p:nvSpPr>
          <p:spPr>
            <a:xfrm>
              <a:off x="1730326" y="1039692"/>
              <a:ext cx="7765500" cy="70830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21" name="Google Shape;121;p26"/>
            <p:cNvSpPr txBox="1"/>
            <p:nvPr/>
          </p:nvSpPr>
          <p:spPr>
            <a:xfrm>
              <a:off x="2322728" y="1243533"/>
              <a:ext cx="6580500" cy="4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lang="fr" sz="1800">
                  <a:solidFill>
                    <a:srgbClr val="0B1107"/>
                  </a:solidFill>
                  <a:latin typeface="Calibri"/>
                  <a:ea typeface="Calibri"/>
                  <a:cs typeface="Calibri"/>
                  <a:sym typeface="Calibri"/>
                </a:rPr>
                <a:t> Introduction &amp; Problématique.</a:t>
              </a:r>
              <a:r>
                <a:rPr b="1" i="0" lang="fr" sz="1800" u="none" cap="none" strike="noStrike">
                  <a:solidFill>
                    <a:srgbClr val="0B1107"/>
                  </a:solidFill>
                  <a:latin typeface="Calibri"/>
                  <a:ea typeface="Calibri"/>
                  <a:cs typeface="Calibri"/>
                  <a:sym typeface="Calibri"/>
                </a:rPr>
                <a:t> </a:t>
              </a:r>
              <a:endParaRPr b="0" i="0" sz="1800" u="none" cap="none" strike="noStrike">
                <a:solidFill>
                  <a:srgbClr val="0B1107"/>
                </a:solidFill>
                <a:latin typeface="Calibri"/>
                <a:ea typeface="Calibri"/>
                <a:cs typeface="Calibri"/>
                <a:sym typeface="Calibri"/>
              </a:endParaRPr>
            </a:p>
          </p:txBody>
        </p:sp>
      </p:grpSp>
      <p:sp>
        <p:nvSpPr>
          <p:cNvPr id="122" name="Google Shape;122;p26"/>
          <p:cNvSpPr/>
          <p:nvPr/>
        </p:nvSpPr>
        <p:spPr>
          <a:xfrm>
            <a:off x="-103238" y="0"/>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23" name="Google Shape;123;p26"/>
          <p:cNvSpPr/>
          <p:nvPr/>
        </p:nvSpPr>
        <p:spPr>
          <a:xfrm>
            <a:off x="1555848" y="746100"/>
            <a:ext cx="32700" cy="4109100"/>
          </a:xfrm>
          <a:prstGeom prst="rect">
            <a:avLst/>
          </a:prstGeom>
          <a:solidFill>
            <a:srgbClr val="FF827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24" name="Google Shape;124;p26"/>
          <p:cNvSpPr txBox="1"/>
          <p:nvPr/>
        </p:nvSpPr>
        <p:spPr>
          <a:xfrm>
            <a:off x="871403" y="261286"/>
            <a:ext cx="3452100" cy="392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0" i="0" lang="fr" sz="2100" u="none" cap="none" strike="noStrike">
                <a:solidFill>
                  <a:schemeClr val="lt1"/>
                </a:solidFill>
                <a:latin typeface="Oswald"/>
                <a:ea typeface="Oswald"/>
                <a:cs typeface="Oswald"/>
                <a:sym typeface="Oswald"/>
              </a:rPr>
              <a:t>Plan de travail</a:t>
            </a:r>
            <a:endParaRPr b="0" i="0" sz="1500" u="none" cap="none" strike="noStrike">
              <a:solidFill>
                <a:schemeClr val="lt1"/>
              </a:solidFill>
              <a:latin typeface="Oswald"/>
              <a:ea typeface="Oswald"/>
              <a:cs typeface="Oswald"/>
              <a:sym typeface="Oswald"/>
            </a:endParaRPr>
          </a:p>
        </p:txBody>
      </p:sp>
      <p:sp>
        <p:nvSpPr>
          <p:cNvPr id="125" name="Google Shape;125;p26"/>
          <p:cNvSpPr txBox="1"/>
          <p:nvPr/>
        </p:nvSpPr>
        <p:spPr>
          <a:xfrm>
            <a:off x="2417934" y="1541675"/>
            <a:ext cx="49353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B1107"/>
              </a:solidFill>
              <a:latin typeface="Calibri"/>
              <a:ea typeface="Calibri"/>
              <a:cs typeface="Calibri"/>
              <a:sym typeface="Calibri"/>
            </a:endParaRPr>
          </a:p>
        </p:txBody>
      </p:sp>
      <p:grpSp>
        <p:nvGrpSpPr>
          <p:cNvPr id="126" name="Google Shape;126;p26"/>
          <p:cNvGrpSpPr/>
          <p:nvPr/>
        </p:nvGrpSpPr>
        <p:grpSpPr>
          <a:xfrm>
            <a:off x="1973600" y="1318759"/>
            <a:ext cx="5824125" cy="530942"/>
            <a:chOff x="1730326" y="1233125"/>
            <a:chExt cx="7765500" cy="708300"/>
          </a:xfrm>
        </p:grpSpPr>
        <p:sp>
          <p:nvSpPr>
            <p:cNvPr id="127" name="Google Shape;127;p26"/>
            <p:cNvSpPr/>
            <p:nvPr/>
          </p:nvSpPr>
          <p:spPr>
            <a:xfrm>
              <a:off x="1730326" y="1233125"/>
              <a:ext cx="7765500" cy="70830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28" name="Google Shape;128;p26"/>
            <p:cNvSpPr txBox="1"/>
            <p:nvPr/>
          </p:nvSpPr>
          <p:spPr>
            <a:xfrm>
              <a:off x="2322780" y="1354383"/>
              <a:ext cx="6580500" cy="4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lang="fr" sz="1800">
                  <a:solidFill>
                    <a:schemeClr val="dk1"/>
                  </a:solidFill>
                  <a:latin typeface="Calibri"/>
                  <a:ea typeface="Calibri"/>
                  <a:cs typeface="Calibri"/>
                  <a:sym typeface="Calibri"/>
                </a:rPr>
                <a:t>Analyse des données.</a:t>
              </a:r>
              <a:endParaRPr b="1" i="0" sz="1800" u="none" cap="none" strike="noStrike">
                <a:solidFill>
                  <a:schemeClr val="dk1"/>
                </a:solidFill>
                <a:latin typeface="Calibri"/>
                <a:ea typeface="Calibri"/>
                <a:cs typeface="Calibri"/>
                <a:sym typeface="Calibri"/>
              </a:endParaRPr>
            </a:p>
          </p:txBody>
        </p:sp>
      </p:grpSp>
      <p:grpSp>
        <p:nvGrpSpPr>
          <p:cNvPr id="129" name="Google Shape;129;p26"/>
          <p:cNvGrpSpPr/>
          <p:nvPr/>
        </p:nvGrpSpPr>
        <p:grpSpPr>
          <a:xfrm>
            <a:off x="1973590" y="2514777"/>
            <a:ext cx="5824125" cy="713059"/>
            <a:chOff x="1730326" y="1233125"/>
            <a:chExt cx="7765500" cy="950746"/>
          </a:xfrm>
        </p:grpSpPr>
        <p:sp>
          <p:nvSpPr>
            <p:cNvPr id="130" name="Google Shape;130;p26"/>
            <p:cNvSpPr/>
            <p:nvPr/>
          </p:nvSpPr>
          <p:spPr>
            <a:xfrm>
              <a:off x="1730326" y="1233125"/>
              <a:ext cx="7765500" cy="70830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31" name="Google Shape;131;p26"/>
            <p:cNvSpPr txBox="1"/>
            <p:nvPr/>
          </p:nvSpPr>
          <p:spPr>
            <a:xfrm>
              <a:off x="2322776" y="1352871"/>
              <a:ext cx="6580500" cy="83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lang="fr" sz="1800">
                  <a:solidFill>
                    <a:srgbClr val="0B1107"/>
                  </a:solidFill>
                  <a:latin typeface="Calibri"/>
                  <a:ea typeface="Calibri"/>
                  <a:cs typeface="Calibri"/>
                  <a:sym typeface="Calibri"/>
                </a:rPr>
                <a:t>Algorithme kmeans.</a:t>
              </a:r>
              <a:r>
                <a:rPr b="1" i="0" lang="fr" sz="1800" u="none" cap="none" strike="noStrike">
                  <a:solidFill>
                    <a:srgbClr val="0B1107"/>
                  </a:solidFill>
                  <a:latin typeface="Calibri"/>
                  <a:ea typeface="Calibri"/>
                  <a:cs typeface="Calibri"/>
                  <a:sym typeface="Calibri"/>
                </a:rPr>
                <a:t> </a:t>
              </a:r>
              <a:endParaRPr b="0" i="0" sz="1800" u="none" cap="none" strike="noStrike">
                <a:solidFill>
                  <a:srgbClr val="0B110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rgbClr val="3F3F3F"/>
                  </a:solidFill>
                  <a:latin typeface="Oswald"/>
                  <a:ea typeface="Oswald"/>
                  <a:cs typeface="Oswald"/>
                  <a:sym typeface="Oswald"/>
                </a:rPr>
                <a:t>   </a:t>
              </a:r>
              <a:endParaRPr b="0" i="0" sz="1800" u="none" cap="none" strike="noStrike">
                <a:solidFill>
                  <a:srgbClr val="3F3F3F"/>
                </a:solidFill>
                <a:latin typeface="Oswald"/>
                <a:ea typeface="Oswald"/>
                <a:cs typeface="Oswald"/>
                <a:sym typeface="Oswald"/>
              </a:endParaRPr>
            </a:p>
          </p:txBody>
        </p:sp>
      </p:grpSp>
      <p:grpSp>
        <p:nvGrpSpPr>
          <p:cNvPr id="132" name="Google Shape;132;p26"/>
          <p:cNvGrpSpPr/>
          <p:nvPr/>
        </p:nvGrpSpPr>
        <p:grpSpPr>
          <a:xfrm>
            <a:off x="1973522" y="3696922"/>
            <a:ext cx="5824125" cy="531225"/>
            <a:chOff x="1730326" y="1233125"/>
            <a:chExt cx="7765500" cy="708300"/>
          </a:xfrm>
        </p:grpSpPr>
        <p:sp>
          <p:nvSpPr>
            <p:cNvPr id="133" name="Google Shape;133;p26"/>
            <p:cNvSpPr/>
            <p:nvPr/>
          </p:nvSpPr>
          <p:spPr>
            <a:xfrm>
              <a:off x="1730326" y="1233125"/>
              <a:ext cx="7765500" cy="70830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34" name="Google Shape;134;p26"/>
            <p:cNvSpPr txBox="1"/>
            <p:nvPr/>
          </p:nvSpPr>
          <p:spPr>
            <a:xfrm>
              <a:off x="2322775" y="1361777"/>
              <a:ext cx="6580500" cy="4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lang="fr" sz="1800">
                  <a:solidFill>
                    <a:schemeClr val="dk1"/>
                  </a:solidFill>
                  <a:latin typeface="Calibri"/>
                  <a:ea typeface="Calibri"/>
                  <a:cs typeface="Calibri"/>
                  <a:sym typeface="Calibri"/>
                </a:rPr>
                <a:t>Régression logistique.</a:t>
              </a:r>
              <a:endParaRPr b="1" i="0" sz="1800" u="none" cap="none" strike="noStrike">
                <a:solidFill>
                  <a:schemeClr val="dk1"/>
                </a:solidFill>
                <a:latin typeface="Calibri"/>
                <a:ea typeface="Calibri"/>
                <a:cs typeface="Calibri"/>
                <a:sym typeface="Calibri"/>
              </a:endParaRPr>
            </a:p>
          </p:txBody>
        </p:sp>
      </p:grpSp>
      <p:sp>
        <p:nvSpPr>
          <p:cNvPr id="135" name="Google Shape;135;p26"/>
          <p:cNvSpPr/>
          <p:nvPr/>
        </p:nvSpPr>
        <p:spPr>
          <a:xfrm>
            <a:off x="1478626" y="944491"/>
            <a:ext cx="270000" cy="270000"/>
          </a:xfrm>
          <a:prstGeom prst="ellipse">
            <a:avLst/>
          </a:prstGeom>
          <a:solidFill>
            <a:srgbClr val="FF827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0" i="0" lang="fr" sz="1400" u="none" cap="none" strike="noStrike">
                <a:solidFill>
                  <a:schemeClr val="lt1"/>
                </a:solidFill>
                <a:latin typeface="Oswald"/>
                <a:ea typeface="Oswald"/>
                <a:cs typeface="Oswald"/>
                <a:sym typeface="Oswald"/>
              </a:rPr>
              <a:t>1</a:t>
            </a:r>
            <a:endParaRPr b="0" i="0" sz="1100" u="none" cap="none" strike="noStrike">
              <a:solidFill>
                <a:srgbClr val="000000"/>
              </a:solidFill>
              <a:latin typeface="Arial"/>
              <a:ea typeface="Arial"/>
              <a:cs typeface="Arial"/>
              <a:sym typeface="Arial"/>
            </a:endParaRPr>
          </a:p>
        </p:txBody>
      </p:sp>
      <p:sp>
        <p:nvSpPr>
          <p:cNvPr id="136" name="Google Shape;136;p26"/>
          <p:cNvSpPr/>
          <p:nvPr/>
        </p:nvSpPr>
        <p:spPr>
          <a:xfrm>
            <a:off x="1478628" y="1505322"/>
            <a:ext cx="270000" cy="270000"/>
          </a:xfrm>
          <a:prstGeom prst="ellipse">
            <a:avLst/>
          </a:prstGeom>
          <a:solidFill>
            <a:srgbClr val="FF827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0" i="0" lang="fr" sz="1400" u="none" cap="none" strike="noStrike">
                <a:solidFill>
                  <a:schemeClr val="lt1"/>
                </a:solidFill>
                <a:latin typeface="Oswald"/>
                <a:ea typeface="Oswald"/>
                <a:cs typeface="Oswald"/>
                <a:sym typeface="Oswald"/>
              </a:rPr>
              <a:t>2</a:t>
            </a:r>
            <a:endParaRPr b="0" i="0" sz="1400" u="none" cap="none" strike="noStrike">
              <a:solidFill>
                <a:schemeClr val="lt1"/>
              </a:solidFill>
              <a:latin typeface="Oswald"/>
              <a:ea typeface="Oswald"/>
              <a:cs typeface="Oswald"/>
              <a:sym typeface="Oswald"/>
            </a:endParaRPr>
          </a:p>
        </p:txBody>
      </p:sp>
      <p:sp>
        <p:nvSpPr>
          <p:cNvPr id="137" name="Google Shape;137;p26"/>
          <p:cNvSpPr/>
          <p:nvPr/>
        </p:nvSpPr>
        <p:spPr>
          <a:xfrm>
            <a:off x="1478614" y="2066151"/>
            <a:ext cx="270000" cy="270000"/>
          </a:xfrm>
          <a:prstGeom prst="ellipse">
            <a:avLst/>
          </a:prstGeom>
          <a:solidFill>
            <a:srgbClr val="FF827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0" i="0" lang="fr" sz="1400" u="none" cap="none" strike="noStrike">
                <a:solidFill>
                  <a:schemeClr val="lt1"/>
                </a:solidFill>
                <a:latin typeface="Oswald"/>
                <a:ea typeface="Oswald"/>
                <a:cs typeface="Oswald"/>
                <a:sym typeface="Oswald"/>
              </a:rPr>
              <a:t>3</a:t>
            </a:r>
            <a:endParaRPr b="0" i="0" sz="1400" u="none" cap="none" strike="noStrike">
              <a:solidFill>
                <a:schemeClr val="lt1"/>
              </a:solidFill>
              <a:latin typeface="Oswald"/>
              <a:ea typeface="Oswald"/>
              <a:cs typeface="Oswald"/>
              <a:sym typeface="Oswald"/>
            </a:endParaRPr>
          </a:p>
        </p:txBody>
      </p:sp>
      <p:sp>
        <p:nvSpPr>
          <p:cNvPr id="138" name="Google Shape;138;p26"/>
          <p:cNvSpPr txBox="1"/>
          <p:nvPr/>
        </p:nvSpPr>
        <p:spPr>
          <a:xfrm>
            <a:off x="8381534" y="4451663"/>
            <a:ext cx="2490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39" name="Google Shape;139;p26"/>
          <p:cNvSpPr/>
          <p:nvPr/>
        </p:nvSpPr>
        <p:spPr>
          <a:xfrm>
            <a:off x="-103238" y="-69574"/>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40" name="Google Shape;140;p26"/>
          <p:cNvSpPr txBox="1"/>
          <p:nvPr/>
        </p:nvSpPr>
        <p:spPr>
          <a:xfrm>
            <a:off x="279150" y="-17925"/>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141" name="Google Shape;141;p26"/>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142" name="Google Shape;142;p26"/>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143" name="Google Shape;143;p26"/>
          <p:cNvSpPr/>
          <p:nvPr/>
        </p:nvSpPr>
        <p:spPr>
          <a:xfrm>
            <a:off x="3833926" y="2514766"/>
            <a:ext cx="138600" cy="276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B1107"/>
              </a:solidFill>
              <a:latin typeface="Calibri"/>
              <a:ea typeface="Calibri"/>
              <a:cs typeface="Calibri"/>
              <a:sym typeface="Calibri"/>
            </a:endParaRPr>
          </a:p>
        </p:txBody>
      </p:sp>
      <p:grpSp>
        <p:nvGrpSpPr>
          <p:cNvPr id="144" name="Google Shape;144;p26"/>
          <p:cNvGrpSpPr/>
          <p:nvPr/>
        </p:nvGrpSpPr>
        <p:grpSpPr>
          <a:xfrm>
            <a:off x="8536989" y="4612572"/>
            <a:ext cx="574624" cy="530965"/>
            <a:chOff x="6229560" y="3783450"/>
            <a:chExt cx="841200" cy="841200"/>
          </a:xfrm>
        </p:grpSpPr>
        <p:sp>
          <p:nvSpPr>
            <p:cNvPr id="145" name="Google Shape;145;p26"/>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46" name="Google Shape;146;p26"/>
            <p:cNvSpPr txBox="1"/>
            <p:nvPr/>
          </p:nvSpPr>
          <p:spPr>
            <a:xfrm>
              <a:off x="6485693" y="3973230"/>
              <a:ext cx="3288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chemeClr val="lt1"/>
                  </a:solidFill>
                  <a:latin typeface="Oswald"/>
                  <a:ea typeface="Oswald"/>
                  <a:cs typeface="Oswald"/>
                  <a:sym typeface="Oswald"/>
                </a:rPr>
                <a:t>2</a:t>
              </a:r>
              <a:endParaRPr b="0" i="0" sz="1400" u="none" cap="none" strike="noStrike">
                <a:solidFill>
                  <a:schemeClr val="lt1"/>
                </a:solidFill>
                <a:latin typeface="Oswald"/>
                <a:ea typeface="Oswald"/>
                <a:cs typeface="Oswald"/>
                <a:sym typeface="Oswald"/>
              </a:endParaRPr>
            </a:p>
          </p:txBody>
        </p:sp>
      </p:grpSp>
      <p:grpSp>
        <p:nvGrpSpPr>
          <p:cNvPr id="147" name="Google Shape;147;p26"/>
          <p:cNvGrpSpPr/>
          <p:nvPr/>
        </p:nvGrpSpPr>
        <p:grpSpPr>
          <a:xfrm>
            <a:off x="1973503" y="1921202"/>
            <a:ext cx="5824125" cy="713059"/>
            <a:chOff x="1730326" y="1233125"/>
            <a:chExt cx="7765500" cy="950746"/>
          </a:xfrm>
        </p:grpSpPr>
        <p:sp>
          <p:nvSpPr>
            <p:cNvPr id="148" name="Google Shape;148;p26"/>
            <p:cNvSpPr/>
            <p:nvPr/>
          </p:nvSpPr>
          <p:spPr>
            <a:xfrm>
              <a:off x="1730326" y="1233125"/>
              <a:ext cx="7765500" cy="70830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49" name="Google Shape;149;p26"/>
            <p:cNvSpPr txBox="1"/>
            <p:nvPr/>
          </p:nvSpPr>
          <p:spPr>
            <a:xfrm>
              <a:off x="2322776" y="1352871"/>
              <a:ext cx="6580500" cy="83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lang="fr" sz="1800">
                  <a:solidFill>
                    <a:srgbClr val="0B1107"/>
                  </a:solidFill>
                  <a:latin typeface="Calibri"/>
                  <a:ea typeface="Calibri"/>
                  <a:cs typeface="Calibri"/>
                  <a:sym typeface="Calibri"/>
                </a:rPr>
                <a:t>Analyse en composantes principales.</a:t>
              </a:r>
              <a:endParaRPr b="0" i="0" sz="1800" u="none" cap="none" strike="noStrike">
                <a:solidFill>
                  <a:srgbClr val="0B110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rgbClr val="3F3F3F"/>
                  </a:solidFill>
                  <a:latin typeface="Oswald"/>
                  <a:ea typeface="Oswald"/>
                  <a:cs typeface="Oswald"/>
                  <a:sym typeface="Oswald"/>
                </a:rPr>
                <a:t>   </a:t>
              </a:r>
              <a:endParaRPr b="0" i="0" sz="1800" u="none" cap="none" strike="noStrike">
                <a:solidFill>
                  <a:srgbClr val="3F3F3F"/>
                </a:solidFill>
                <a:latin typeface="Oswald"/>
                <a:ea typeface="Oswald"/>
                <a:cs typeface="Oswald"/>
                <a:sym typeface="Oswald"/>
              </a:endParaRPr>
            </a:p>
          </p:txBody>
        </p:sp>
      </p:grpSp>
      <p:grpSp>
        <p:nvGrpSpPr>
          <p:cNvPr id="150" name="Google Shape;150;p26"/>
          <p:cNvGrpSpPr/>
          <p:nvPr/>
        </p:nvGrpSpPr>
        <p:grpSpPr>
          <a:xfrm>
            <a:off x="1973597" y="4323872"/>
            <a:ext cx="5824125" cy="531225"/>
            <a:chOff x="1730326" y="1233125"/>
            <a:chExt cx="7765500" cy="708300"/>
          </a:xfrm>
        </p:grpSpPr>
        <p:sp>
          <p:nvSpPr>
            <p:cNvPr id="151" name="Google Shape;151;p26"/>
            <p:cNvSpPr/>
            <p:nvPr/>
          </p:nvSpPr>
          <p:spPr>
            <a:xfrm>
              <a:off x="1730326" y="1233125"/>
              <a:ext cx="7765500" cy="70830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52" name="Google Shape;152;p26"/>
            <p:cNvSpPr txBox="1"/>
            <p:nvPr/>
          </p:nvSpPr>
          <p:spPr>
            <a:xfrm>
              <a:off x="2322775" y="1361777"/>
              <a:ext cx="6580500" cy="4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lang="fr" sz="1800">
                  <a:solidFill>
                    <a:schemeClr val="dk1"/>
                  </a:solidFill>
                  <a:latin typeface="Calibri"/>
                  <a:ea typeface="Calibri"/>
                  <a:cs typeface="Calibri"/>
                  <a:sym typeface="Calibri"/>
                </a:rPr>
                <a:t>Conclusion.</a:t>
              </a:r>
              <a:endParaRPr b="1" i="0" sz="1800" u="none" cap="none" strike="noStrike">
                <a:solidFill>
                  <a:schemeClr val="dk1"/>
                </a:solidFill>
                <a:latin typeface="Calibri"/>
                <a:ea typeface="Calibri"/>
                <a:cs typeface="Calibri"/>
                <a:sym typeface="Calibri"/>
              </a:endParaRPr>
            </a:p>
          </p:txBody>
        </p:sp>
      </p:grpSp>
      <p:sp>
        <p:nvSpPr>
          <p:cNvPr id="153" name="Google Shape;153;p26"/>
          <p:cNvSpPr/>
          <p:nvPr/>
        </p:nvSpPr>
        <p:spPr>
          <a:xfrm>
            <a:off x="1478614" y="2666439"/>
            <a:ext cx="270000" cy="270000"/>
          </a:xfrm>
          <a:prstGeom prst="ellipse">
            <a:avLst/>
          </a:prstGeom>
          <a:solidFill>
            <a:srgbClr val="FF827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lang="fr">
                <a:solidFill>
                  <a:schemeClr val="lt1"/>
                </a:solidFill>
                <a:latin typeface="Oswald"/>
                <a:ea typeface="Oswald"/>
                <a:cs typeface="Oswald"/>
                <a:sym typeface="Oswald"/>
              </a:rPr>
              <a:t>4</a:t>
            </a:r>
            <a:endParaRPr b="0" i="0" sz="1400" u="none" cap="none" strike="noStrike">
              <a:solidFill>
                <a:schemeClr val="lt1"/>
              </a:solidFill>
              <a:latin typeface="Oswald"/>
              <a:ea typeface="Oswald"/>
              <a:cs typeface="Oswald"/>
              <a:sym typeface="Oswald"/>
            </a:endParaRPr>
          </a:p>
        </p:txBody>
      </p:sp>
      <p:sp>
        <p:nvSpPr>
          <p:cNvPr id="154" name="Google Shape;154;p26"/>
          <p:cNvSpPr/>
          <p:nvPr/>
        </p:nvSpPr>
        <p:spPr>
          <a:xfrm>
            <a:off x="1478614" y="3249801"/>
            <a:ext cx="270000" cy="270000"/>
          </a:xfrm>
          <a:prstGeom prst="ellipse">
            <a:avLst/>
          </a:prstGeom>
          <a:solidFill>
            <a:srgbClr val="FF827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lang="fr">
                <a:solidFill>
                  <a:schemeClr val="lt1"/>
                </a:solidFill>
                <a:latin typeface="Oswald"/>
                <a:ea typeface="Oswald"/>
                <a:cs typeface="Oswald"/>
                <a:sym typeface="Oswald"/>
              </a:rPr>
              <a:t>5</a:t>
            </a:r>
            <a:endParaRPr b="0" i="0" sz="1400" u="none" cap="none" strike="noStrike">
              <a:solidFill>
                <a:schemeClr val="lt1"/>
              </a:solidFill>
              <a:latin typeface="Oswald"/>
              <a:ea typeface="Oswald"/>
              <a:cs typeface="Oswald"/>
              <a:sym typeface="Oswald"/>
            </a:endParaRPr>
          </a:p>
        </p:txBody>
      </p:sp>
      <p:sp>
        <p:nvSpPr>
          <p:cNvPr id="155" name="Google Shape;155;p26"/>
          <p:cNvSpPr/>
          <p:nvPr/>
        </p:nvSpPr>
        <p:spPr>
          <a:xfrm>
            <a:off x="1478614" y="3833151"/>
            <a:ext cx="270000" cy="270000"/>
          </a:xfrm>
          <a:prstGeom prst="ellipse">
            <a:avLst/>
          </a:prstGeom>
          <a:solidFill>
            <a:srgbClr val="FF827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lang="fr">
                <a:solidFill>
                  <a:schemeClr val="lt1"/>
                </a:solidFill>
                <a:latin typeface="Oswald"/>
                <a:ea typeface="Oswald"/>
                <a:cs typeface="Oswald"/>
                <a:sym typeface="Oswald"/>
              </a:rPr>
              <a:t>6</a:t>
            </a:r>
            <a:endParaRPr b="0" i="0" sz="1400" u="none" cap="none" strike="noStrike">
              <a:solidFill>
                <a:schemeClr val="lt1"/>
              </a:solidFill>
              <a:latin typeface="Oswald"/>
              <a:ea typeface="Oswald"/>
              <a:cs typeface="Oswald"/>
              <a:sym typeface="Oswald"/>
            </a:endParaRPr>
          </a:p>
        </p:txBody>
      </p:sp>
      <p:grpSp>
        <p:nvGrpSpPr>
          <p:cNvPr id="156" name="Google Shape;156;p26"/>
          <p:cNvGrpSpPr/>
          <p:nvPr/>
        </p:nvGrpSpPr>
        <p:grpSpPr>
          <a:xfrm>
            <a:off x="1973497" y="3129797"/>
            <a:ext cx="5824125" cy="531225"/>
            <a:chOff x="1730326" y="1233125"/>
            <a:chExt cx="7765500" cy="708300"/>
          </a:xfrm>
        </p:grpSpPr>
        <p:sp>
          <p:nvSpPr>
            <p:cNvPr id="157" name="Google Shape;157;p26"/>
            <p:cNvSpPr/>
            <p:nvPr/>
          </p:nvSpPr>
          <p:spPr>
            <a:xfrm>
              <a:off x="1730326" y="1233125"/>
              <a:ext cx="7765500" cy="70830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58" name="Google Shape;158;p26"/>
            <p:cNvSpPr txBox="1"/>
            <p:nvPr/>
          </p:nvSpPr>
          <p:spPr>
            <a:xfrm>
              <a:off x="2322775" y="1361777"/>
              <a:ext cx="6580500" cy="4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lang="fr" sz="1800">
                  <a:solidFill>
                    <a:schemeClr val="dk1"/>
                  </a:solidFill>
                  <a:latin typeface="Calibri"/>
                  <a:ea typeface="Calibri"/>
                  <a:cs typeface="Calibri"/>
                  <a:sym typeface="Calibri"/>
                </a:rPr>
                <a:t>Algorithme KNN</a:t>
              </a:r>
              <a:r>
                <a:rPr b="1" lang="fr" sz="1800">
                  <a:solidFill>
                    <a:schemeClr val="dk1"/>
                  </a:solidFill>
                  <a:latin typeface="Calibri"/>
                  <a:ea typeface="Calibri"/>
                  <a:cs typeface="Calibri"/>
                  <a:sym typeface="Calibri"/>
                </a:rPr>
                <a:t>.</a:t>
              </a:r>
              <a:endParaRPr b="1" i="0" sz="1800" u="none" cap="none" strike="noStrike">
                <a:solidFill>
                  <a:schemeClr val="dk1"/>
                </a:solidFill>
                <a:latin typeface="Calibri"/>
                <a:ea typeface="Calibri"/>
                <a:cs typeface="Calibri"/>
                <a:sym typeface="Calibri"/>
              </a:endParaRPr>
            </a:p>
          </p:txBody>
        </p:sp>
      </p:grpSp>
      <p:sp>
        <p:nvSpPr>
          <p:cNvPr id="159" name="Google Shape;159;p26"/>
          <p:cNvSpPr/>
          <p:nvPr/>
        </p:nvSpPr>
        <p:spPr>
          <a:xfrm>
            <a:off x="1478614" y="4416501"/>
            <a:ext cx="270000" cy="270000"/>
          </a:xfrm>
          <a:prstGeom prst="ellipse">
            <a:avLst/>
          </a:prstGeom>
          <a:solidFill>
            <a:srgbClr val="FF827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lang="fr">
                <a:solidFill>
                  <a:schemeClr val="lt1"/>
                </a:solidFill>
                <a:latin typeface="Oswald"/>
                <a:ea typeface="Oswald"/>
                <a:cs typeface="Oswald"/>
                <a:sym typeface="Oswald"/>
              </a:rPr>
              <a:t>7</a:t>
            </a:r>
            <a:endParaRPr b="0" i="0" sz="1400" u="none" cap="none" strike="noStrike">
              <a:solidFill>
                <a:schemeClr val="lt1"/>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66" name="Google Shape;166;p27"/>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167" name="Google Shape;167;p27"/>
          <p:cNvGrpSpPr/>
          <p:nvPr/>
        </p:nvGrpSpPr>
        <p:grpSpPr>
          <a:xfrm>
            <a:off x="8478" y="-16428"/>
            <a:ext cx="2530797" cy="5286523"/>
            <a:chOff x="-145370" y="0"/>
            <a:chExt cx="3374396" cy="7048698"/>
          </a:xfrm>
        </p:grpSpPr>
        <p:grpSp>
          <p:nvGrpSpPr>
            <p:cNvPr id="168" name="Google Shape;168;p27"/>
            <p:cNvGrpSpPr/>
            <p:nvPr/>
          </p:nvGrpSpPr>
          <p:grpSpPr>
            <a:xfrm>
              <a:off x="-145370" y="0"/>
              <a:ext cx="3374396" cy="7048698"/>
              <a:chOff x="-145370" y="0"/>
              <a:chExt cx="3374396" cy="7048698"/>
            </a:xfrm>
          </p:grpSpPr>
          <p:grpSp>
            <p:nvGrpSpPr>
              <p:cNvPr id="169" name="Google Shape;169;p27"/>
              <p:cNvGrpSpPr/>
              <p:nvPr/>
            </p:nvGrpSpPr>
            <p:grpSpPr>
              <a:xfrm>
                <a:off x="-145370" y="0"/>
                <a:ext cx="3374396" cy="7048698"/>
                <a:chOff x="-145370" y="0"/>
                <a:chExt cx="3374396" cy="7048698"/>
              </a:xfrm>
            </p:grpSpPr>
            <p:grpSp>
              <p:nvGrpSpPr>
                <p:cNvPr id="170" name="Google Shape;170;p27"/>
                <p:cNvGrpSpPr/>
                <p:nvPr/>
              </p:nvGrpSpPr>
              <p:grpSpPr>
                <a:xfrm>
                  <a:off x="-145370" y="190698"/>
                  <a:ext cx="3374396" cy="6858000"/>
                  <a:chOff x="4791660" y="190698"/>
                  <a:chExt cx="3374396" cy="6858000"/>
                </a:xfrm>
              </p:grpSpPr>
              <p:sp>
                <p:nvSpPr>
                  <p:cNvPr id="171" name="Google Shape;171;p27"/>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2" name="Google Shape;172;p27"/>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173" name="Google Shape;173;p27"/>
                  <p:cNvGrpSpPr/>
                  <p:nvPr/>
                </p:nvGrpSpPr>
                <p:grpSpPr>
                  <a:xfrm>
                    <a:off x="4795354" y="2086871"/>
                    <a:ext cx="3205536" cy="523200"/>
                    <a:chOff x="4798571" y="2086871"/>
                    <a:chExt cx="3205536" cy="523200"/>
                  </a:xfrm>
                </p:grpSpPr>
                <p:sp>
                  <p:nvSpPr>
                    <p:cNvPr id="174" name="Google Shape;174;p27"/>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75" name="Google Shape;175;p27"/>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176" name="Google Shape;176;p27"/>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177" name="Google Shape;177;p27"/>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178" name="Google Shape;178;p27"/>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179" name="Google Shape;179;p27"/>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180" name="Google Shape;180;p27"/>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Condensed"/>
                  <a:ea typeface="Roboto Condensed"/>
                  <a:cs typeface="Roboto Condensed"/>
                  <a:sym typeface="Roboto Condensed"/>
                </a:rPr>
                <a:t>Régression logistique</a:t>
              </a:r>
              <a:endParaRPr b="1" i="0" sz="1100" u="none" cap="none" strike="noStrike">
                <a:solidFill>
                  <a:schemeClr val="dk1"/>
                </a:solidFill>
                <a:latin typeface="Roboto"/>
                <a:ea typeface="Roboto"/>
                <a:cs typeface="Roboto"/>
                <a:sym typeface="Roboto"/>
              </a:endParaRPr>
            </a:p>
          </p:txBody>
        </p:sp>
        <p:sp>
          <p:nvSpPr>
            <p:cNvPr id="181" name="Google Shape;181;p27"/>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182" name="Google Shape;182;p27"/>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183" name="Google Shape;183;p27"/>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84" name="Google Shape;184;p27"/>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85" name="Google Shape;185;p27"/>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186" name="Google Shape;186;p27"/>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187" name="Google Shape;187;p27"/>
          <p:cNvSpPr txBox="1"/>
          <p:nvPr/>
        </p:nvSpPr>
        <p:spPr>
          <a:xfrm>
            <a:off x="2595191" y="961901"/>
            <a:ext cx="6444900" cy="5310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3F3F3F"/>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endParaRPr b="0" i="0" sz="1100" u="none" cap="none" strike="noStrike">
              <a:solidFill>
                <a:srgbClr val="000000"/>
              </a:solidFill>
              <a:latin typeface="Arial"/>
              <a:ea typeface="Arial"/>
              <a:cs typeface="Arial"/>
              <a:sym typeface="Arial"/>
            </a:endParaRPr>
          </a:p>
        </p:txBody>
      </p:sp>
      <p:sp>
        <p:nvSpPr>
          <p:cNvPr id="188" name="Google Shape;188;p27">
            <a:hlinkClick action="ppaction://hlinksldjump" r:id="rId4"/>
          </p:cNvPr>
          <p:cNvSpPr/>
          <p:nvPr/>
        </p:nvSpPr>
        <p:spPr>
          <a:xfrm>
            <a:off x="11250" y="1549789"/>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89" name="Google Shape;189;p27"/>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190" name="Google Shape;190;p27"/>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191" name="Google Shape;191;p27"/>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192" name="Google Shape;192;p27"/>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93" name="Google Shape;193;p27"/>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194" name="Google Shape;194;p27"/>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195" name="Google Shape;195;p27"/>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96" name="Google Shape;196;p27"/>
          <p:cNvSpPr/>
          <p:nvPr/>
        </p:nvSpPr>
        <p:spPr>
          <a:xfrm>
            <a:off x="-22887" y="1491538"/>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197" name="Google Shape;197;p27"/>
          <p:cNvGrpSpPr/>
          <p:nvPr/>
        </p:nvGrpSpPr>
        <p:grpSpPr>
          <a:xfrm>
            <a:off x="8536989" y="4612572"/>
            <a:ext cx="574624" cy="530965"/>
            <a:chOff x="6229560" y="3783450"/>
            <a:chExt cx="841200" cy="841200"/>
          </a:xfrm>
        </p:grpSpPr>
        <p:sp>
          <p:nvSpPr>
            <p:cNvPr id="198" name="Google Shape;198;p27"/>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99" name="Google Shape;199;p27"/>
            <p:cNvSpPr txBox="1"/>
            <p:nvPr/>
          </p:nvSpPr>
          <p:spPr>
            <a:xfrm>
              <a:off x="6485693" y="3973230"/>
              <a:ext cx="3288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chemeClr val="lt1"/>
                  </a:solidFill>
                  <a:latin typeface="Oswald"/>
                  <a:ea typeface="Oswald"/>
                  <a:cs typeface="Oswald"/>
                  <a:sym typeface="Oswald"/>
                </a:rPr>
                <a:t>3</a:t>
              </a:r>
              <a:endParaRPr b="0" i="0" sz="1400" u="none" cap="none" strike="noStrike">
                <a:solidFill>
                  <a:schemeClr val="lt1"/>
                </a:solidFill>
                <a:latin typeface="Oswald"/>
                <a:ea typeface="Oswald"/>
                <a:cs typeface="Oswald"/>
                <a:sym typeface="Oswald"/>
              </a:endParaRPr>
            </a:p>
          </p:txBody>
        </p:sp>
      </p:grpSp>
      <p:sp>
        <p:nvSpPr>
          <p:cNvPr id="200" name="Google Shape;200;p27"/>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01" name="Google Shape;201;p27"/>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202" name="Google Shape;202;p27"/>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Condensed"/>
                <a:ea typeface="Roboto Condensed"/>
                <a:cs typeface="Roboto Condensed"/>
                <a:sym typeface="Roboto Condensed"/>
              </a:rPr>
              <a:t>Algorithme KNN</a:t>
            </a:r>
            <a:endParaRPr b="1" sz="1100">
              <a:latin typeface="Roboto Condensed"/>
              <a:ea typeface="Roboto Condensed"/>
              <a:cs typeface="Roboto Condensed"/>
              <a:sym typeface="Roboto Condensed"/>
            </a:endParaRPr>
          </a:p>
        </p:txBody>
      </p:sp>
      <p:sp>
        <p:nvSpPr>
          <p:cNvPr id="203" name="Google Shape;203;p27"/>
          <p:cNvSpPr/>
          <p:nvPr/>
        </p:nvSpPr>
        <p:spPr>
          <a:xfrm>
            <a:off x="11249" y="4315892"/>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04" name="Google Shape;204;p27"/>
          <p:cNvSpPr txBox="1"/>
          <p:nvPr/>
        </p:nvSpPr>
        <p:spPr>
          <a:xfrm>
            <a:off x="61650" y="4197438"/>
            <a:ext cx="1664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Conclusion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96"/>
                                        </p:tgtEl>
                                        <p:attrNameLst>
                                          <p:attrName>style.visibility</p:attrName>
                                        </p:attrNameLst>
                                      </p:cBhvr>
                                      <p:to>
                                        <p:strVal val="visible"/>
                                      </p:to>
                                    </p:set>
                                    <p:anim calcmode="lin" valueType="num">
                                      <p:cBhvr additive="base">
                                        <p:cTn dur="3200"/>
                                        <p:tgtEl>
                                          <p:spTgt spid="19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211" name="Google Shape;211;p28"/>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212" name="Google Shape;212;p28"/>
          <p:cNvGrpSpPr/>
          <p:nvPr/>
        </p:nvGrpSpPr>
        <p:grpSpPr>
          <a:xfrm>
            <a:off x="8478" y="-16428"/>
            <a:ext cx="2530797" cy="5286523"/>
            <a:chOff x="-145370" y="0"/>
            <a:chExt cx="3374396" cy="7048698"/>
          </a:xfrm>
        </p:grpSpPr>
        <p:grpSp>
          <p:nvGrpSpPr>
            <p:cNvPr id="213" name="Google Shape;213;p28"/>
            <p:cNvGrpSpPr/>
            <p:nvPr/>
          </p:nvGrpSpPr>
          <p:grpSpPr>
            <a:xfrm>
              <a:off x="-145370" y="0"/>
              <a:ext cx="3374396" cy="7048698"/>
              <a:chOff x="-145370" y="0"/>
              <a:chExt cx="3374396" cy="7048698"/>
            </a:xfrm>
          </p:grpSpPr>
          <p:grpSp>
            <p:nvGrpSpPr>
              <p:cNvPr id="214" name="Google Shape;214;p28"/>
              <p:cNvGrpSpPr/>
              <p:nvPr/>
            </p:nvGrpSpPr>
            <p:grpSpPr>
              <a:xfrm>
                <a:off x="-145370" y="0"/>
                <a:ext cx="3374396" cy="7048698"/>
                <a:chOff x="-145370" y="0"/>
                <a:chExt cx="3374396" cy="7048698"/>
              </a:xfrm>
            </p:grpSpPr>
            <p:grpSp>
              <p:nvGrpSpPr>
                <p:cNvPr id="215" name="Google Shape;215;p28"/>
                <p:cNvGrpSpPr/>
                <p:nvPr/>
              </p:nvGrpSpPr>
              <p:grpSpPr>
                <a:xfrm>
                  <a:off x="-145370" y="190698"/>
                  <a:ext cx="3374396" cy="6858000"/>
                  <a:chOff x="4791660" y="190698"/>
                  <a:chExt cx="3374396" cy="6858000"/>
                </a:xfrm>
              </p:grpSpPr>
              <p:sp>
                <p:nvSpPr>
                  <p:cNvPr id="216" name="Google Shape;216;p28"/>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17" name="Google Shape;217;p28"/>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218" name="Google Shape;218;p28"/>
                  <p:cNvGrpSpPr/>
                  <p:nvPr/>
                </p:nvGrpSpPr>
                <p:grpSpPr>
                  <a:xfrm>
                    <a:off x="4795354" y="2086871"/>
                    <a:ext cx="3205536" cy="523200"/>
                    <a:chOff x="4798571" y="2086871"/>
                    <a:chExt cx="3205536" cy="523200"/>
                  </a:xfrm>
                </p:grpSpPr>
                <p:sp>
                  <p:nvSpPr>
                    <p:cNvPr id="219" name="Google Shape;219;p28"/>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20" name="Google Shape;220;p28"/>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221" name="Google Shape;221;p28"/>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222" name="Google Shape;222;p28"/>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223" name="Google Shape;223;p28"/>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224" name="Google Shape;224;p28"/>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225" name="Google Shape;225;p28"/>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226" name="Google Shape;226;p28"/>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227" name="Google Shape;227;p28"/>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228" name="Google Shape;228;p28"/>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229" name="Google Shape;229;p28"/>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230" name="Google Shape;230;p28"/>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231" name="Google Shape;231;p28"/>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232" name="Google Shape;232;p28"/>
          <p:cNvSpPr txBox="1"/>
          <p:nvPr/>
        </p:nvSpPr>
        <p:spPr>
          <a:xfrm>
            <a:off x="2595191" y="961901"/>
            <a:ext cx="6444900" cy="5310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3F3F3F"/>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endParaRPr b="0" i="0" sz="1100" u="none" cap="none" strike="noStrike">
              <a:solidFill>
                <a:srgbClr val="000000"/>
              </a:solidFill>
              <a:latin typeface="Arial"/>
              <a:ea typeface="Arial"/>
              <a:cs typeface="Arial"/>
              <a:sym typeface="Arial"/>
            </a:endParaRPr>
          </a:p>
        </p:txBody>
      </p:sp>
      <p:sp>
        <p:nvSpPr>
          <p:cNvPr id="233" name="Google Shape;233;p28">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234" name="Google Shape;234;p28"/>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235" name="Google Shape;235;p28"/>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236" name="Google Shape;236;p28"/>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237" name="Google Shape;237;p28"/>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38" name="Google Shape;238;p28"/>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239" name="Google Shape;239;p28"/>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240" name="Google Shape;240;p28"/>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41" name="Google Shape;241;p28"/>
          <p:cNvSpPr/>
          <p:nvPr/>
        </p:nvSpPr>
        <p:spPr>
          <a:xfrm>
            <a:off x="-12" y="1957913"/>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242" name="Google Shape;242;p28"/>
          <p:cNvGrpSpPr/>
          <p:nvPr/>
        </p:nvGrpSpPr>
        <p:grpSpPr>
          <a:xfrm>
            <a:off x="8569364" y="4612547"/>
            <a:ext cx="574624" cy="530965"/>
            <a:chOff x="6229560" y="3783450"/>
            <a:chExt cx="841200" cy="841200"/>
          </a:xfrm>
        </p:grpSpPr>
        <p:sp>
          <p:nvSpPr>
            <p:cNvPr id="243" name="Google Shape;243;p28"/>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244" name="Google Shape;244;p28"/>
            <p:cNvSpPr txBox="1"/>
            <p:nvPr/>
          </p:nvSpPr>
          <p:spPr>
            <a:xfrm>
              <a:off x="6485693" y="3973230"/>
              <a:ext cx="3288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4</a:t>
              </a:r>
              <a:endParaRPr b="0" i="0" sz="1400" u="none" cap="none" strike="noStrike">
                <a:solidFill>
                  <a:schemeClr val="lt1"/>
                </a:solidFill>
                <a:latin typeface="Oswald"/>
                <a:ea typeface="Oswald"/>
                <a:cs typeface="Oswald"/>
                <a:sym typeface="Oswald"/>
              </a:endParaRPr>
            </a:p>
          </p:txBody>
        </p:sp>
      </p:grpSp>
      <p:sp>
        <p:nvSpPr>
          <p:cNvPr id="245" name="Google Shape;245;p28"/>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46" name="Google Shape;246;p28"/>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247" name="Google Shape;247;p28"/>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248" name="Google Shape;248;p28"/>
          <p:cNvSpPr txBox="1"/>
          <p:nvPr/>
        </p:nvSpPr>
        <p:spPr>
          <a:xfrm>
            <a:off x="2481700" y="764025"/>
            <a:ext cx="221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Base de données:</a:t>
            </a:r>
            <a:endParaRPr/>
          </a:p>
        </p:txBody>
      </p:sp>
      <p:pic>
        <p:nvPicPr>
          <p:cNvPr id="249" name="Google Shape;249;p28"/>
          <p:cNvPicPr preferRelativeResize="0"/>
          <p:nvPr/>
        </p:nvPicPr>
        <p:blipFill>
          <a:blip r:embed="rId5">
            <a:alphaModFix/>
          </a:blip>
          <a:stretch>
            <a:fillRect/>
          </a:stretch>
        </p:blipFill>
        <p:spPr>
          <a:xfrm>
            <a:off x="2515287" y="1108375"/>
            <a:ext cx="6604724" cy="1247775"/>
          </a:xfrm>
          <a:prstGeom prst="rect">
            <a:avLst/>
          </a:prstGeom>
          <a:noFill/>
          <a:ln>
            <a:noFill/>
          </a:ln>
        </p:spPr>
      </p:pic>
      <p:sp>
        <p:nvSpPr>
          <p:cNvPr id="250" name="Google Shape;250;p28"/>
          <p:cNvSpPr txBox="1"/>
          <p:nvPr/>
        </p:nvSpPr>
        <p:spPr>
          <a:xfrm>
            <a:off x="2515275" y="2533825"/>
            <a:ext cx="305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251" name="Google Shape;251;p28"/>
          <p:cNvPicPr preferRelativeResize="0"/>
          <p:nvPr/>
        </p:nvPicPr>
        <p:blipFill>
          <a:blip r:embed="rId6">
            <a:alphaModFix/>
          </a:blip>
          <a:stretch>
            <a:fillRect/>
          </a:stretch>
        </p:blipFill>
        <p:spPr>
          <a:xfrm>
            <a:off x="2595200" y="2571750"/>
            <a:ext cx="6223425" cy="2101625"/>
          </a:xfrm>
          <a:prstGeom prst="rect">
            <a:avLst/>
          </a:prstGeom>
          <a:noFill/>
          <a:ln>
            <a:noFill/>
          </a:ln>
        </p:spPr>
      </p:pic>
      <p:sp>
        <p:nvSpPr>
          <p:cNvPr id="252" name="Google Shape;252;p28"/>
          <p:cNvSpPr txBox="1"/>
          <p:nvPr/>
        </p:nvSpPr>
        <p:spPr>
          <a:xfrm>
            <a:off x="2399400" y="-102675"/>
            <a:ext cx="343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solidFill>
                  <a:schemeClr val="lt1"/>
                </a:solidFill>
              </a:rPr>
              <a:t>Analyse de la forme des données</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3200"/>
                                        <p:tgtEl>
                                          <p:spTgt spid="24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9"/>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259" name="Google Shape;259;p29"/>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260" name="Google Shape;260;p29"/>
          <p:cNvGrpSpPr/>
          <p:nvPr/>
        </p:nvGrpSpPr>
        <p:grpSpPr>
          <a:xfrm>
            <a:off x="8478" y="-16428"/>
            <a:ext cx="2530797" cy="5286523"/>
            <a:chOff x="-145370" y="0"/>
            <a:chExt cx="3374396" cy="7048698"/>
          </a:xfrm>
        </p:grpSpPr>
        <p:grpSp>
          <p:nvGrpSpPr>
            <p:cNvPr id="261" name="Google Shape;261;p29"/>
            <p:cNvGrpSpPr/>
            <p:nvPr/>
          </p:nvGrpSpPr>
          <p:grpSpPr>
            <a:xfrm>
              <a:off x="-145370" y="0"/>
              <a:ext cx="3374396" cy="7048698"/>
              <a:chOff x="-145370" y="0"/>
              <a:chExt cx="3374396" cy="7048698"/>
            </a:xfrm>
          </p:grpSpPr>
          <p:grpSp>
            <p:nvGrpSpPr>
              <p:cNvPr id="262" name="Google Shape;262;p29"/>
              <p:cNvGrpSpPr/>
              <p:nvPr/>
            </p:nvGrpSpPr>
            <p:grpSpPr>
              <a:xfrm>
                <a:off x="-145370" y="0"/>
                <a:ext cx="3374396" cy="7048698"/>
                <a:chOff x="-145370" y="0"/>
                <a:chExt cx="3374396" cy="7048698"/>
              </a:xfrm>
            </p:grpSpPr>
            <p:grpSp>
              <p:nvGrpSpPr>
                <p:cNvPr id="263" name="Google Shape;263;p29"/>
                <p:cNvGrpSpPr/>
                <p:nvPr/>
              </p:nvGrpSpPr>
              <p:grpSpPr>
                <a:xfrm>
                  <a:off x="-145370" y="190698"/>
                  <a:ext cx="3374396" cy="6858000"/>
                  <a:chOff x="4791660" y="190698"/>
                  <a:chExt cx="3374396" cy="6858000"/>
                </a:xfrm>
              </p:grpSpPr>
              <p:sp>
                <p:nvSpPr>
                  <p:cNvPr id="264" name="Google Shape;264;p29"/>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65" name="Google Shape;265;p29"/>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266" name="Google Shape;266;p29"/>
                  <p:cNvGrpSpPr/>
                  <p:nvPr/>
                </p:nvGrpSpPr>
                <p:grpSpPr>
                  <a:xfrm>
                    <a:off x="4795354" y="2086871"/>
                    <a:ext cx="3205536" cy="523200"/>
                    <a:chOff x="4798571" y="2086871"/>
                    <a:chExt cx="3205536" cy="523200"/>
                  </a:xfrm>
                </p:grpSpPr>
                <p:sp>
                  <p:nvSpPr>
                    <p:cNvPr id="267" name="Google Shape;267;p29"/>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68" name="Google Shape;268;p29"/>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269" name="Google Shape;269;p29"/>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270" name="Google Shape;270;p29"/>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271" name="Google Shape;271;p29"/>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272" name="Google Shape;272;p29"/>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273" name="Google Shape;273;p29"/>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274" name="Google Shape;274;p29"/>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275" name="Google Shape;275;p29"/>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276" name="Google Shape;276;p29"/>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277" name="Google Shape;277;p29"/>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278" name="Google Shape;278;p29"/>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279" name="Google Shape;279;p29"/>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280" name="Google Shape;280;p29"/>
          <p:cNvSpPr txBox="1"/>
          <p:nvPr/>
        </p:nvSpPr>
        <p:spPr>
          <a:xfrm>
            <a:off x="2595191" y="961901"/>
            <a:ext cx="6444900" cy="5310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3F3F3F"/>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endParaRPr b="0" i="0" sz="1100" u="none" cap="none" strike="noStrike">
              <a:solidFill>
                <a:srgbClr val="000000"/>
              </a:solidFill>
              <a:latin typeface="Arial"/>
              <a:ea typeface="Arial"/>
              <a:cs typeface="Arial"/>
              <a:sym typeface="Arial"/>
            </a:endParaRPr>
          </a:p>
        </p:txBody>
      </p:sp>
      <p:sp>
        <p:nvSpPr>
          <p:cNvPr id="281" name="Google Shape;281;p29">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282" name="Google Shape;282;p29"/>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283" name="Google Shape;283;p29"/>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284" name="Google Shape;284;p29"/>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285" name="Google Shape;285;p29"/>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86" name="Google Shape;286;p29"/>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287" name="Google Shape;287;p29"/>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288" name="Google Shape;288;p29"/>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89" name="Google Shape;289;p29"/>
          <p:cNvSpPr/>
          <p:nvPr/>
        </p:nvSpPr>
        <p:spPr>
          <a:xfrm>
            <a:off x="-12" y="1957913"/>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290" name="Google Shape;290;p29"/>
          <p:cNvGrpSpPr/>
          <p:nvPr/>
        </p:nvGrpSpPr>
        <p:grpSpPr>
          <a:xfrm>
            <a:off x="8569364" y="4612547"/>
            <a:ext cx="574624" cy="530965"/>
            <a:chOff x="6229560" y="3783450"/>
            <a:chExt cx="841200" cy="841200"/>
          </a:xfrm>
        </p:grpSpPr>
        <p:sp>
          <p:nvSpPr>
            <p:cNvPr id="291" name="Google Shape;291;p29"/>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292" name="Google Shape;292;p29"/>
            <p:cNvSpPr txBox="1"/>
            <p:nvPr/>
          </p:nvSpPr>
          <p:spPr>
            <a:xfrm>
              <a:off x="6485693" y="3973230"/>
              <a:ext cx="3288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5</a:t>
              </a:r>
              <a:endParaRPr b="0" i="0" sz="1400" u="none" cap="none" strike="noStrike">
                <a:solidFill>
                  <a:schemeClr val="lt1"/>
                </a:solidFill>
                <a:latin typeface="Oswald"/>
                <a:ea typeface="Oswald"/>
                <a:cs typeface="Oswald"/>
                <a:sym typeface="Oswald"/>
              </a:endParaRPr>
            </a:p>
          </p:txBody>
        </p:sp>
      </p:grpSp>
      <p:sp>
        <p:nvSpPr>
          <p:cNvPr id="293" name="Google Shape;293;p29"/>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94" name="Google Shape;294;p29"/>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295" name="Google Shape;295;p29"/>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296" name="Google Shape;296;p29"/>
          <p:cNvSpPr txBox="1"/>
          <p:nvPr/>
        </p:nvSpPr>
        <p:spPr>
          <a:xfrm>
            <a:off x="2425400" y="-102675"/>
            <a:ext cx="233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solidFill>
                  <a:schemeClr val="lt1"/>
                </a:solidFill>
              </a:rPr>
              <a:t>Analyse univariée</a:t>
            </a:r>
            <a:endParaRPr>
              <a:solidFill>
                <a:schemeClr val="lt1"/>
              </a:solidFill>
            </a:endParaRPr>
          </a:p>
        </p:txBody>
      </p:sp>
      <p:pic>
        <p:nvPicPr>
          <p:cNvPr id="297" name="Google Shape;297;p29"/>
          <p:cNvPicPr preferRelativeResize="0"/>
          <p:nvPr/>
        </p:nvPicPr>
        <p:blipFill>
          <a:blip r:embed="rId5">
            <a:alphaModFix/>
          </a:blip>
          <a:stretch>
            <a:fillRect/>
          </a:stretch>
        </p:blipFill>
        <p:spPr>
          <a:xfrm>
            <a:off x="2456375" y="783488"/>
            <a:ext cx="6548800" cy="3829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0"/>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304" name="Google Shape;304;p30"/>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305" name="Google Shape;305;p30"/>
          <p:cNvGrpSpPr/>
          <p:nvPr/>
        </p:nvGrpSpPr>
        <p:grpSpPr>
          <a:xfrm>
            <a:off x="8478" y="-16428"/>
            <a:ext cx="2530797" cy="5286523"/>
            <a:chOff x="-145370" y="0"/>
            <a:chExt cx="3374396" cy="7048698"/>
          </a:xfrm>
        </p:grpSpPr>
        <p:grpSp>
          <p:nvGrpSpPr>
            <p:cNvPr id="306" name="Google Shape;306;p30"/>
            <p:cNvGrpSpPr/>
            <p:nvPr/>
          </p:nvGrpSpPr>
          <p:grpSpPr>
            <a:xfrm>
              <a:off x="-145370" y="0"/>
              <a:ext cx="3374396" cy="7048698"/>
              <a:chOff x="-145370" y="0"/>
              <a:chExt cx="3374396" cy="7048698"/>
            </a:xfrm>
          </p:grpSpPr>
          <p:grpSp>
            <p:nvGrpSpPr>
              <p:cNvPr id="307" name="Google Shape;307;p30"/>
              <p:cNvGrpSpPr/>
              <p:nvPr/>
            </p:nvGrpSpPr>
            <p:grpSpPr>
              <a:xfrm>
                <a:off x="-145370" y="0"/>
                <a:ext cx="3374396" cy="7048698"/>
                <a:chOff x="-145370" y="0"/>
                <a:chExt cx="3374396" cy="7048698"/>
              </a:xfrm>
            </p:grpSpPr>
            <p:grpSp>
              <p:nvGrpSpPr>
                <p:cNvPr id="308" name="Google Shape;308;p30"/>
                <p:cNvGrpSpPr/>
                <p:nvPr/>
              </p:nvGrpSpPr>
              <p:grpSpPr>
                <a:xfrm>
                  <a:off x="-145370" y="190698"/>
                  <a:ext cx="3374396" cy="6858000"/>
                  <a:chOff x="4791660" y="190698"/>
                  <a:chExt cx="3374396" cy="6858000"/>
                </a:xfrm>
              </p:grpSpPr>
              <p:sp>
                <p:nvSpPr>
                  <p:cNvPr id="309" name="Google Shape;309;p30"/>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10" name="Google Shape;310;p30"/>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311" name="Google Shape;311;p30"/>
                  <p:cNvGrpSpPr/>
                  <p:nvPr/>
                </p:nvGrpSpPr>
                <p:grpSpPr>
                  <a:xfrm>
                    <a:off x="4795354" y="2086871"/>
                    <a:ext cx="3205536" cy="523200"/>
                    <a:chOff x="4798571" y="2086871"/>
                    <a:chExt cx="3205536" cy="523200"/>
                  </a:xfrm>
                </p:grpSpPr>
                <p:sp>
                  <p:nvSpPr>
                    <p:cNvPr id="312" name="Google Shape;312;p30"/>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313" name="Google Shape;313;p30"/>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314" name="Google Shape;314;p30"/>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315" name="Google Shape;315;p30"/>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316" name="Google Shape;316;p30"/>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317" name="Google Shape;317;p30"/>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318" name="Google Shape;318;p30"/>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319" name="Google Shape;319;p30"/>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320" name="Google Shape;320;p30"/>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321" name="Google Shape;321;p30"/>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322" name="Google Shape;322;p30"/>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323" name="Google Shape;323;p30"/>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324" name="Google Shape;324;p30"/>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325" name="Google Shape;325;p30">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326" name="Google Shape;326;p30"/>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327" name="Google Shape;327;p30"/>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328" name="Google Shape;328;p30"/>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329" name="Google Shape;329;p30"/>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330" name="Google Shape;330;p30"/>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331" name="Google Shape;331;p30"/>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332" name="Google Shape;332;p30"/>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333" name="Google Shape;333;p30"/>
          <p:cNvSpPr/>
          <p:nvPr/>
        </p:nvSpPr>
        <p:spPr>
          <a:xfrm>
            <a:off x="-12" y="1957913"/>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334" name="Google Shape;334;p30"/>
          <p:cNvGrpSpPr/>
          <p:nvPr/>
        </p:nvGrpSpPr>
        <p:grpSpPr>
          <a:xfrm>
            <a:off x="8569364" y="4612547"/>
            <a:ext cx="574624" cy="530965"/>
            <a:chOff x="6229560" y="3783450"/>
            <a:chExt cx="841200" cy="841200"/>
          </a:xfrm>
        </p:grpSpPr>
        <p:sp>
          <p:nvSpPr>
            <p:cNvPr id="335" name="Google Shape;335;p30"/>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336" name="Google Shape;336;p30"/>
            <p:cNvSpPr txBox="1"/>
            <p:nvPr/>
          </p:nvSpPr>
          <p:spPr>
            <a:xfrm>
              <a:off x="6485693" y="3973230"/>
              <a:ext cx="3288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6</a:t>
              </a:r>
              <a:endParaRPr b="0" i="0" sz="1400" u="none" cap="none" strike="noStrike">
                <a:solidFill>
                  <a:schemeClr val="lt1"/>
                </a:solidFill>
                <a:latin typeface="Oswald"/>
                <a:ea typeface="Oswald"/>
                <a:cs typeface="Oswald"/>
                <a:sym typeface="Oswald"/>
              </a:endParaRPr>
            </a:p>
          </p:txBody>
        </p:sp>
      </p:grpSp>
      <p:sp>
        <p:nvSpPr>
          <p:cNvPr id="337" name="Google Shape;337;p30"/>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338" name="Google Shape;338;p30"/>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339" name="Google Shape;339;p30"/>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pic>
        <p:nvPicPr>
          <p:cNvPr id="340" name="Google Shape;340;p30"/>
          <p:cNvPicPr preferRelativeResize="0"/>
          <p:nvPr/>
        </p:nvPicPr>
        <p:blipFill>
          <a:blip r:embed="rId5">
            <a:alphaModFix/>
          </a:blip>
          <a:stretch>
            <a:fillRect/>
          </a:stretch>
        </p:blipFill>
        <p:spPr>
          <a:xfrm>
            <a:off x="2662800" y="826325"/>
            <a:ext cx="4412700" cy="3248675"/>
          </a:xfrm>
          <a:prstGeom prst="rect">
            <a:avLst/>
          </a:prstGeom>
          <a:noFill/>
          <a:ln>
            <a:noFill/>
          </a:ln>
        </p:spPr>
      </p:pic>
      <p:sp>
        <p:nvSpPr>
          <p:cNvPr id="341" name="Google Shape;341;p30"/>
          <p:cNvSpPr txBox="1"/>
          <p:nvPr/>
        </p:nvSpPr>
        <p:spPr>
          <a:xfrm>
            <a:off x="2494125" y="-102675"/>
            <a:ext cx="525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1"/>
                </a:solidFill>
              </a:rPr>
              <a:t>Visualisation de la target</a:t>
            </a:r>
            <a:endParaRPr>
              <a:solidFill>
                <a:schemeClr val="lt1"/>
              </a:solidFill>
            </a:endParaRPr>
          </a:p>
        </p:txBody>
      </p:sp>
      <p:sp>
        <p:nvSpPr>
          <p:cNvPr id="342" name="Google Shape;342;p30"/>
          <p:cNvSpPr txBox="1"/>
          <p:nvPr/>
        </p:nvSpPr>
        <p:spPr>
          <a:xfrm>
            <a:off x="3320825" y="4255500"/>
            <a:ext cx="399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Il y’a plus de vrais billets que de faux.</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1"/>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349" name="Google Shape;349;p31"/>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350" name="Google Shape;350;p31"/>
          <p:cNvGrpSpPr/>
          <p:nvPr/>
        </p:nvGrpSpPr>
        <p:grpSpPr>
          <a:xfrm>
            <a:off x="8478" y="-16428"/>
            <a:ext cx="2530797" cy="5286523"/>
            <a:chOff x="-145370" y="0"/>
            <a:chExt cx="3374396" cy="7048698"/>
          </a:xfrm>
        </p:grpSpPr>
        <p:grpSp>
          <p:nvGrpSpPr>
            <p:cNvPr id="351" name="Google Shape;351;p31"/>
            <p:cNvGrpSpPr/>
            <p:nvPr/>
          </p:nvGrpSpPr>
          <p:grpSpPr>
            <a:xfrm>
              <a:off x="-145370" y="0"/>
              <a:ext cx="3374396" cy="7048698"/>
              <a:chOff x="-145370" y="0"/>
              <a:chExt cx="3374396" cy="7048698"/>
            </a:xfrm>
          </p:grpSpPr>
          <p:grpSp>
            <p:nvGrpSpPr>
              <p:cNvPr id="352" name="Google Shape;352;p31"/>
              <p:cNvGrpSpPr/>
              <p:nvPr/>
            </p:nvGrpSpPr>
            <p:grpSpPr>
              <a:xfrm>
                <a:off x="-145370" y="0"/>
                <a:ext cx="3374396" cy="7048698"/>
                <a:chOff x="-145370" y="0"/>
                <a:chExt cx="3374396" cy="7048698"/>
              </a:xfrm>
            </p:grpSpPr>
            <p:grpSp>
              <p:nvGrpSpPr>
                <p:cNvPr id="353" name="Google Shape;353;p31"/>
                <p:cNvGrpSpPr/>
                <p:nvPr/>
              </p:nvGrpSpPr>
              <p:grpSpPr>
                <a:xfrm>
                  <a:off x="-145370" y="190698"/>
                  <a:ext cx="3374396" cy="6858000"/>
                  <a:chOff x="4791660" y="190698"/>
                  <a:chExt cx="3374396" cy="6858000"/>
                </a:xfrm>
              </p:grpSpPr>
              <p:sp>
                <p:nvSpPr>
                  <p:cNvPr id="354" name="Google Shape;354;p31"/>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55" name="Google Shape;355;p31"/>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356" name="Google Shape;356;p31"/>
                  <p:cNvGrpSpPr/>
                  <p:nvPr/>
                </p:nvGrpSpPr>
                <p:grpSpPr>
                  <a:xfrm>
                    <a:off x="4795354" y="2086871"/>
                    <a:ext cx="3205536" cy="523200"/>
                    <a:chOff x="4798571" y="2086871"/>
                    <a:chExt cx="3205536" cy="523200"/>
                  </a:xfrm>
                </p:grpSpPr>
                <p:sp>
                  <p:nvSpPr>
                    <p:cNvPr id="357" name="Google Shape;357;p31"/>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358" name="Google Shape;358;p31"/>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359" name="Google Shape;359;p31"/>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360" name="Google Shape;360;p31"/>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361" name="Google Shape;361;p31"/>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362" name="Google Shape;362;p31"/>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363" name="Google Shape;363;p31"/>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364" name="Google Shape;364;p31"/>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365" name="Google Shape;365;p31"/>
          <p:cNvSpPr txBox="1"/>
          <p:nvPr/>
        </p:nvSpPr>
        <p:spPr>
          <a:xfrm>
            <a:off x="2399400" y="-51687"/>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366" name="Google Shape;366;p31"/>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367" name="Google Shape;367;p31"/>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368" name="Google Shape;368;p31"/>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369" name="Google Shape;369;p31"/>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370" name="Google Shape;370;p31">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371" name="Google Shape;371;p31"/>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372" name="Google Shape;372;p31"/>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373" name="Google Shape;373;p31"/>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374" name="Google Shape;374;p31"/>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375" name="Google Shape;375;p31"/>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376" name="Google Shape;376;p31"/>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377" name="Google Shape;377;p31"/>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378" name="Google Shape;378;p31"/>
          <p:cNvSpPr/>
          <p:nvPr/>
        </p:nvSpPr>
        <p:spPr>
          <a:xfrm>
            <a:off x="-12" y="1957913"/>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379" name="Google Shape;379;p31"/>
          <p:cNvGrpSpPr/>
          <p:nvPr/>
        </p:nvGrpSpPr>
        <p:grpSpPr>
          <a:xfrm>
            <a:off x="8569364" y="4612547"/>
            <a:ext cx="574624" cy="530965"/>
            <a:chOff x="6229560" y="3783450"/>
            <a:chExt cx="841200" cy="841200"/>
          </a:xfrm>
        </p:grpSpPr>
        <p:sp>
          <p:nvSpPr>
            <p:cNvPr id="380" name="Google Shape;380;p31"/>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381" name="Google Shape;381;p31"/>
            <p:cNvSpPr txBox="1"/>
            <p:nvPr/>
          </p:nvSpPr>
          <p:spPr>
            <a:xfrm>
              <a:off x="6485693" y="3973230"/>
              <a:ext cx="3288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7</a:t>
              </a:r>
              <a:endParaRPr b="0" i="0" sz="1400" u="none" cap="none" strike="noStrike">
                <a:solidFill>
                  <a:schemeClr val="lt1"/>
                </a:solidFill>
                <a:latin typeface="Oswald"/>
                <a:ea typeface="Oswald"/>
                <a:cs typeface="Oswald"/>
                <a:sym typeface="Oswald"/>
              </a:endParaRPr>
            </a:p>
          </p:txBody>
        </p:sp>
      </p:grpSp>
      <p:sp>
        <p:nvSpPr>
          <p:cNvPr id="382" name="Google Shape;382;p31"/>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383" name="Google Shape;383;p31"/>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384" name="Google Shape;384;p31"/>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385" name="Google Shape;385;p31"/>
          <p:cNvSpPr txBox="1"/>
          <p:nvPr/>
        </p:nvSpPr>
        <p:spPr>
          <a:xfrm>
            <a:off x="2434200" y="-125050"/>
            <a:ext cx="4504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1"/>
                </a:solidFill>
              </a:rPr>
              <a:t>Signification des variables</a:t>
            </a:r>
            <a:endParaRPr>
              <a:solidFill>
                <a:schemeClr val="lt1"/>
              </a:solidFill>
            </a:endParaRPr>
          </a:p>
        </p:txBody>
      </p:sp>
      <p:pic>
        <p:nvPicPr>
          <p:cNvPr id="386" name="Google Shape;386;p31"/>
          <p:cNvPicPr preferRelativeResize="0"/>
          <p:nvPr/>
        </p:nvPicPr>
        <p:blipFill>
          <a:blip r:embed="rId5">
            <a:alphaModFix/>
          </a:blip>
          <a:stretch>
            <a:fillRect/>
          </a:stretch>
        </p:blipFill>
        <p:spPr>
          <a:xfrm>
            <a:off x="2399400" y="764025"/>
            <a:ext cx="1712375" cy="2875200"/>
          </a:xfrm>
          <a:prstGeom prst="rect">
            <a:avLst/>
          </a:prstGeom>
          <a:noFill/>
          <a:ln>
            <a:noFill/>
          </a:ln>
        </p:spPr>
      </p:pic>
      <p:pic>
        <p:nvPicPr>
          <p:cNvPr id="387" name="Google Shape;387;p31"/>
          <p:cNvPicPr preferRelativeResize="0"/>
          <p:nvPr/>
        </p:nvPicPr>
        <p:blipFill>
          <a:blip r:embed="rId6">
            <a:alphaModFix/>
          </a:blip>
          <a:stretch>
            <a:fillRect/>
          </a:stretch>
        </p:blipFill>
        <p:spPr>
          <a:xfrm>
            <a:off x="5560025" y="764037"/>
            <a:ext cx="1860900" cy="2875200"/>
          </a:xfrm>
          <a:prstGeom prst="rect">
            <a:avLst/>
          </a:prstGeom>
          <a:noFill/>
          <a:ln>
            <a:noFill/>
          </a:ln>
        </p:spPr>
      </p:pic>
      <p:pic>
        <p:nvPicPr>
          <p:cNvPr id="388" name="Google Shape;388;p31"/>
          <p:cNvPicPr preferRelativeResize="0"/>
          <p:nvPr/>
        </p:nvPicPr>
        <p:blipFill>
          <a:blip r:embed="rId7">
            <a:alphaModFix/>
          </a:blip>
          <a:stretch>
            <a:fillRect/>
          </a:stretch>
        </p:blipFill>
        <p:spPr>
          <a:xfrm>
            <a:off x="7283100" y="764013"/>
            <a:ext cx="1860900" cy="2903325"/>
          </a:xfrm>
          <a:prstGeom prst="rect">
            <a:avLst/>
          </a:prstGeom>
          <a:noFill/>
          <a:ln>
            <a:noFill/>
          </a:ln>
        </p:spPr>
      </p:pic>
      <p:pic>
        <p:nvPicPr>
          <p:cNvPr id="389" name="Google Shape;389;p31"/>
          <p:cNvPicPr preferRelativeResize="0"/>
          <p:nvPr/>
        </p:nvPicPr>
        <p:blipFill>
          <a:blip r:embed="rId8">
            <a:alphaModFix/>
          </a:blip>
          <a:stretch>
            <a:fillRect/>
          </a:stretch>
        </p:blipFill>
        <p:spPr>
          <a:xfrm>
            <a:off x="3966000" y="764025"/>
            <a:ext cx="1615800" cy="2875200"/>
          </a:xfrm>
          <a:prstGeom prst="rect">
            <a:avLst/>
          </a:prstGeom>
          <a:noFill/>
          <a:ln>
            <a:noFill/>
          </a:ln>
        </p:spPr>
      </p:pic>
      <p:sp>
        <p:nvSpPr>
          <p:cNvPr id="390" name="Google Shape;390;p31"/>
          <p:cNvSpPr txBox="1"/>
          <p:nvPr/>
        </p:nvSpPr>
        <p:spPr>
          <a:xfrm>
            <a:off x="2519250" y="3996950"/>
            <a:ext cx="6469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Les variables diagonal, height_left, height_right et margin_up suivent une distribution normale.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2"/>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397" name="Google Shape;397;p32"/>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398" name="Google Shape;398;p32"/>
          <p:cNvGrpSpPr/>
          <p:nvPr/>
        </p:nvGrpSpPr>
        <p:grpSpPr>
          <a:xfrm>
            <a:off x="8478" y="-16428"/>
            <a:ext cx="2530797" cy="5286523"/>
            <a:chOff x="-145370" y="0"/>
            <a:chExt cx="3374396" cy="7048698"/>
          </a:xfrm>
        </p:grpSpPr>
        <p:grpSp>
          <p:nvGrpSpPr>
            <p:cNvPr id="399" name="Google Shape;399;p32"/>
            <p:cNvGrpSpPr/>
            <p:nvPr/>
          </p:nvGrpSpPr>
          <p:grpSpPr>
            <a:xfrm>
              <a:off x="-145370" y="0"/>
              <a:ext cx="3374396" cy="7048698"/>
              <a:chOff x="-145370" y="0"/>
              <a:chExt cx="3374396" cy="7048698"/>
            </a:xfrm>
          </p:grpSpPr>
          <p:grpSp>
            <p:nvGrpSpPr>
              <p:cNvPr id="400" name="Google Shape;400;p32"/>
              <p:cNvGrpSpPr/>
              <p:nvPr/>
            </p:nvGrpSpPr>
            <p:grpSpPr>
              <a:xfrm>
                <a:off x="-145370" y="0"/>
                <a:ext cx="3374396" cy="7048698"/>
                <a:chOff x="-145370" y="0"/>
                <a:chExt cx="3374396" cy="7048698"/>
              </a:xfrm>
            </p:grpSpPr>
            <p:grpSp>
              <p:nvGrpSpPr>
                <p:cNvPr id="401" name="Google Shape;401;p32"/>
                <p:cNvGrpSpPr/>
                <p:nvPr/>
              </p:nvGrpSpPr>
              <p:grpSpPr>
                <a:xfrm>
                  <a:off x="-145370" y="190698"/>
                  <a:ext cx="3374396" cy="6858000"/>
                  <a:chOff x="4791660" y="190698"/>
                  <a:chExt cx="3374396" cy="6858000"/>
                </a:xfrm>
              </p:grpSpPr>
              <p:sp>
                <p:nvSpPr>
                  <p:cNvPr id="402" name="Google Shape;402;p32"/>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03" name="Google Shape;403;p32"/>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404" name="Google Shape;404;p32"/>
                  <p:cNvGrpSpPr/>
                  <p:nvPr/>
                </p:nvGrpSpPr>
                <p:grpSpPr>
                  <a:xfrm>
                    <a:off x="4795354" y="2086871"/>
                    <a:ext cx="3205536" cy="523200"/>
                    <a:chOff x="4798571" y="2086871"/>
                    <a:chExt cx="3205536" cy="523200"/>
                  </a:xfrm>
                </p:grpSpPr>
                <p:sp>
                  <p:nvSpPr>
                    <p:cNvPr id="405" name="Google Shape;405;p32"/>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406" name="Google Shape;406;p32"/>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407" name="Google Shape;407;p32"/>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408" name="Google Shape;408;p32"/>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409" name="Google Shape;409;p32"/>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410" name="Google Shape;410;p32"/>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411" name="Google Shape;411;p32"/>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412" name="Google Shape;412;p32"/>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413" name="Google Shape;413;p32"/>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414" name="Google Shape;414;p32"/>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415" name="Google Shape;415;p32"/>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416" name="Google Shape;416;p32"/>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417" name="Google Shape;417;p32"/>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418" name="Google Shape;418;p32">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419" name="Google Shape;419;p32"/>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420" name="Google Shape;420;p32"/>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421" name="Google Shape;421;p32"/>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422" name="Google Shape;422;p32"/>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423" name="Google Shape;423;p32"/>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424" name="Google Shape;424;p32"/>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425" name="Google Shape;425;p32"/>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426" name="Google Shape;426;p32"/>
          <p:cNvSpPr/>
          <p:nvPr/>
        </p:nvSpPr>
        <p:spPr>
          <a:xfrm>
            <a:off x="-12" y="1957913"/>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427" name="Google Shape;427;p32"/>
          <p:cNvGrpSpPr/>
          <p:nvPr/>
        </p:nvGrpSpPr>
        <p:grpSpPr>
          <a:xfrm>
            <a:off x="8569364" y="4612547"/>
            <a:ext cx="574624" cy="530965"/>
            <a:chOff x="6229560" y="3783450"/>
            <a:chExt cx="841200" cy="841200"/>
          </a:xfrm>
        </p:grpSpPr>
        <p:sp>
          <p:nvSpPr>
            <p:cNvPr id="428" name="Google Shape;428;p32"/>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429" name="Google Shape;429;p32"/>
            <p:cNvSpPr txBox="1"/>
            <p:nvPr/>
          </p:nvSpPr>
          <p:spPr>
            <a:xfrm>
              <a:off x="6485693" y="3973230"/>
              <a:ext cx="3288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8</a:t>
              </a:r>
              <a:endParaRPr b="0" i="0" sz="1400" u="none" cap="none" strike="noStrike">
                <a:solidFill>
                  <a:schemeClr val="lt1"/>
                </a:solidFill>
                <a:latin typeface="Oswald"/>
                <a:ea typeface="Oswald"/>
                <a:cs typeface="Oswald"/>
                <a:sym typeface="Oswald"/>
              </a:endParaRPr>
            </a:p>
          </p:txBody>
        </p:sp>
      </p:grpSp>
      <p:sp>
        <p:nvSpPr>
          <p:cNvPr id="430" name="Google Shape;430;p32"/>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431" name="Google Shape;431;p32"/>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432" name="Google Shape;432;p32"/>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433" name="Google Shape;433;p32"/>
          <p:cNvSpPr txBox="1"/>
          <p:nvPr/>
        </p:nvSpPr>
        <p:spPr>
          <a:xfrm>
            <a:off x="2399400" y="-125050"/>
            <a:ext cx="334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solidFill>
                  <a:schemeClr val="lt1"/>
                </a:solidFill>
              </a:rPr>
              <a:t>Signification des variables</a:t>
            </a:r>
            <a:endParaRPr/>
          </a:p>
        </p:txBody>
      </p:sp>
      <p:pic>
        <p:nvPicPr>
          <p:cNvPr id="434" name="Google Shape;434;p32"/>
          <p:cNvPicPr preferRelativeResize="0"/>
          <p:nvPr/>
        </p:nvPicPr>
        <p:blipFill>
          <a:blip r:embed="rId5">
            <a:alphaModFix/>
          </a:blip>
          <a:stretch>
            <a:fillRect/>
          </a:stretch>
        </p:blipFill>
        <p:spPr>
          <a:xfrm>
            <a:off x="2456075" y="685800"/>
            <a:ext cx="3234650" cy="3771900"/>
          </a:xfrm>
          <a:prstGeom prst="rect">
            <a:avLst/>
          </a:prstGeom>
          <a:noFill/>
          <a:ln>
            <a:noFill/>
          </a:ln>
        </p:spPr>
      </p:pic>
      <p:pic>
        <p:nvPicPr>
          <p:cNvPr id="435" name="Google Shape;435;p32"/>
          <p:cNvPicPr preferRelativeResize="0"/>
          <p:nvPr/>
        </p:nvPicPr>
        <p:blipFill>
          <a:blip r:embed="rId6">
            <a:alphaModFix/>
          </a:blip>
          <a:stretch>
            <a:fillRect/>
          </a:stretch>
        </p:blipFill>
        <p:spPr>
          <a:xfrm>
            <a:off x="5747400" y="681875"/>
            <a:ext cx="3348000" cy="3771900"/>
          </a:xfrm>
          <a:prstGeom prst="rect">
            <a:avLst/>
          </a:prstGeom>
          <a:noFill/>
          <a:ln>
            <a:noFill/>
          </a:ln>
        </p:spPr>
      </p:pic>
      <p:sp>
        <p:nvSpPr>
          <p:cNvPr id="436" name="Google Shape;436;p32"/>
          <p:cNvSpPr txBox="1"/>
          <p:nvPr/>
        </p:nvSpPr>
        <p:spPr>
          <a:xfrm>
            <a:off x="2570600" y="4526175"/>
            <a:ext cx="619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Les variables length et margin_low suivent des distributions asymétriques.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3"/>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443" name="Google Shape;443;p33"/>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444" name="Google Shape;444;p33"/>
          <p:cNvGrpSpPr/>
          <p:nvPr/>
        </p:nvGrpSpPr>
        <p:grpSpPr>
          <a:xfrm>
            <a:off x="8478" y="-16428"/>
            <a:ext cx="2530797" cy="5286523"/>
            <a:chOff x="-145370" y="0"/>
            <a:chExt cx="3374396" cy="7048698"/>
          </a:xfrm>
        </p:grpSpPr>
        <p:grpSp>
          <p:nvGrpSpPr>
            <p:cNvPr id="445" name="Google Shape;445;p33"/>
            <p:cNvGrpSpPr/>
            <p:nvPr/>
          </p:nvGrpSpPr>
          <p:grpSpPr>
            <a:xfrm>
              <a:off x="-145370" y="0"/>
              <a:ext cx="3374396" cy="7048698"/>
              <a:chOff x="-145370" y="0"/>
              <a:chExt cx="3374396" cy="7048698"/>
            </a:xfrm>
          </p:grpSpPr>
          <p:grpSp>
            <p:nvGrpSpPr>
              <p:cNvPr id="446" name="Google Shape;446;p33"/>
              <p:cNvGrpSpPr/>
              <p:nvPr/>
            </p:nvGrpSpPr>
            <p:grpSpPr>
              <a:xfrm>
                <a:off x="-145370" y="0"/>
                <a:ext cx="3374396" cy="7048698"/>
                <a:chOff x="-145370" y="0"/>
                <a:chExt cx="3374396" cy="7048698"/>
              </a:xfrm>
            </p:grpSpPr>
            <p:grpSp>
              <p:nvGrpSpPr>
                <p:cNvPr id="447" name="Google Shape;447;p33"/>
                <p:cNvGrpSpPr/>
                <p:nvPr/>
              </p:nvGrpSpPr>
              <p:grpSpPr>
                <a:xfrm>
                  <a:off x="-145370" y="190698"/>
                  <a:ext cx="3374396" cy="6858000"/>
                  <a:chOff x="4791660" y="190698"/>
                  <a:chExt cx="3374396" cy="6858000"/>
                </a:xfrm>
              </p:grpSpPr>
              <p:sp>
                <p:nvSpPr>
                  <p:cNvPr id="448" name="Google Shape;448;p33"/>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49" name="Google Shape;449;p33"/>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450" name="Google Shape;450;p33"/>
                  <p:cNvGrpSpPr/>
                  <p:nvPr/>
                </p:nvGrpSpPr>
                <p:grpSpPr>
                  <a:xfrm>
                    <a:off x="4795354" y="2086871"/>
                    <a:ext cx="3205536" cy="523200"/>
                    <a:chOff x="4798571" y="2086871"/>
                    <a:chExt cx="3205536" cy="523200"/>
                  </a:xfrm>
                </p:grpSpPr>
                <p:sp>
                  <p:nvSpPr>
                    <p:cNvPr id="451" name="Google Shape;451;p33"/>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452" name="Google Shape;452;p33"/>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453" name="Google Shape;453;p33"/>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454" name="Google Shape;454;p33"/>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455" name="Google Shape;455;p33"/>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456" name="Google Shape;456;p33"/>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457" name="Google Shape;457;p33"/>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458" name="Google Shape;458;p33"/>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459" name="Google Shape;459;p33"/>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460" name="Google Shape;460;p33"/>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461" name="Google Shape;461;p33"/>
          <p:cNvSpPr/>
          <p:nvPr/>
        </p:nvSpPr>
        <p:spPr>
          <a:xfrm>
            <a:off x="11250" y="-59200"/>
            <a:ext cx="93165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462" name="Google Shape;462;p33"/>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463" name="Google Shape;463;p33"/>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464" name="Google Shape;464;p33">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465" name="Google Shape;465;p33"/>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466" name="Google Shape;466;p33"/>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467" name="Google Shape;467;p33"/>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468" name="Google Shape;468;p33"/>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469" name="Google Shape;469;p33"/>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470" name="Google Shape;470;p33"/>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471" name="Google Shape;471;p33"/>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472" name="Google Shape;472;p33"/>
          <p:cNvSpPr/>
          <p:nvPr/>
        </p:nvSpPr>
        <p:spPr>
          <a:xfrm>
            <a:off x="-12" y="1957913"/>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473" name="Google Shape;473;p33"/>
          <p:cNvGrpSpPr/>
          <p:nvPr/>
        </p:nvGrpSpPr>
        <p:grpSpPr>
          <a:xfrm>
            <a:off x="8569364" y="4612547"/>
            <a:ext cx="574624" cy="530965"/>
            <a:chOff x="6229560" y="3783450"/>
            <a:chExt cx="841200" cy="841200"/>
          </a:xfrm>
        </p:grpSpPr>
        <p:sp>
          <p:nvSpPr>
            <p:cNvPr id="474" name="Google Shape;474;p33"/>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475" name="Google Shape;475;p33"/>
            <p:cNvSpPr txBox="1"/>
            <p:nvPr/>
          </p:nvSpPr>
          <p:spPr>
            <a:xfrm>
              <a:off x="6485693" y="3973230"/>
              <a:ext cx="3288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9</a:t>
              </a:r>
              <a:endParaRPr b="0" i="0" sz="1400" u="none" cap="none" strike="noStrike">
                <a:solidFill>
                  <a:schemeClr val="lt1"/>
                </a:solidFill>
                <a:latin typeface="Oswald"/>
                <a:ea typeface="Oswald"/>
                <a:cs typeface="Oswald"/>
                <a:sym typeface="Oswald"/>
              </a:endParaRPr>
            </a:p>
          </p:txBody>
        </p:sp>
      </p:grpSp>
      <p:sp>
        <p:nvSpPr>
          <p:cNvPr id="476" name="Google Shape;476;p33"/>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477" name="Google Shape;477;p33"/>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478" name="Google Shape;478;p33"/>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479" name="Google Shape;479;p33"/>
          <p:cNvSpPr txBox="1"/>
          <p:nvPr/>
        </p:nvSpPr>
        <p:spPr>
          <a:xfrm>
            <a:off x="2399400" y="-102675"/>
            <a:ext cx="30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solidFill>
                  <a:schemeClr val="lt1"/>
                </a:solidFill>
              </a:rPr>
              <a:t>Analyse bivariée</a:t>
            </a:r>
            <a:endParaRPr/>
          </a:p>
        </p:txBody>
      </p:sp>
      <p:pic>
        <p:nvPicPr>
          <p:cNvPr id="480" name="Google Shape;480;p33"/>
          <p:cNvPicPr preferRelativeResize="0"/>
          <p:nvPr/>
        </p:nvPicPr>
        <p:blipFill>
          <a:blip r:embed="rId5">
            <a:alphaModFix/>
          </a:blip>
          <a:stretch>
            <a:fillRect/>
          </a:stretch>
        </p:blipFill>
        <p:spPr>
          <a:xfrm>
            <a:off x="2590750" y="212775"/>
            <a:ext cx="6444049" cy="4157751"/>
          </a:xfrm>
          <a:prstGeom prst="rect">
            <a:avLst/>
          </a:prstGeom>
          <a:noFill/>
          <a:ln>
            <a:noFill/>
          </a:ln>
        </p:spPr>
      </p:pic>
      <p:sp>
        <p:nvSpPr>
          <p:cNvPr id="481" name="Google Shape;481;p33"/>
          <p:cNvSpPr txBox="1"/>
          <p:nvPr/>
        </p:nvSpPr>
        <p:spPr>
          <a:xfrm>
            <a:off x="2774375" y="4312200"/>
            <a:ext cx="5559900" cy="831300"/>
          </a:xfrm>
          <a:prstGeom prst="rect">
            <a:avLst/>
          </a:prstGeom>
          <a:noFill/>
          <a:ln>
            <a:noFill/>
          </a:ln>
        </p:spPr>
        <p:txBody>
          <a:bodyPr anchorCtr="0" anchor="t" bIns="91425" lIns="91425" spcFirstLastPara="1" rIns="91425" wrap="square" tIns="91425">
            <a:spAutoFit/>
          </a:bodyPr>
          <a:lstStyle/>
          <a:p>
            <a:pPr indent="-174625" lvl="0" marL="89999" rtl="0" algn="l">
              <a:spcBef>
                <a:spcPts val="0"/>
              </a:spcBef>
              <a:spcAft>
                <a:spcPts val="0"/>
              </a:spcAft>
              <a:buClr>
                <a:schemeClr val="dk1"/>
              </a:buClr>
              <a:buSzPts val="1400"/>
              <a:buFont typeface="Georgia"/>
              <a:buChar char="➢"/>
            </a:pPr>
            <a:r>
              <a:rPr lang="fr">
                <a:solidFill>
                  <a:schemeClr val="dk1"/>
                </a:solidFill>
                <a:latin typeface="Georgia"/>
                <a:ea typeface="Georgia"/>
                <a:cs typeface="Georgia"/>
                <a:sym typeface="Georgia"/>
              </a:rPr>
              <a:t>Les vrais billets sont généralement plus longs que les faux billets.</a:t>
            </a:r>
            <a:endParaRPr>
              <a:solidFill>
                <a:schemeClr val="dk1"/>
              </a:solidFill>
              <a:latin typeface="Georgia"/>
              <a:ea typeface="Georgia"/>
              <a:cs typeface="Georgia"/>
              <a:sym typeface="Georgia"/>
            </a:endParaRPr>
          </a:p>
          <a:p>
            <a:pPr indent="-184150" lvl="0" marL="89999" rtl="0" algn="l">
              <a:spcBef>
                <a:spcPts val="0"/>
              </a:spcBef>
              <a:spcAft>
                <a:spcPts val="0"/>
              </a:spcAft>
              <a:buClr>
                <a:schemeClr val="dk1"/>
              </a:buClr>
              <a:buSzPts val="1400"/>
              <a:buFont typeface="Georgia"/>
              <a:buChar char="➢"/>
            </a:pPr>
            <a:r>
              <a:rPr lang="fr">
                <a:solidFill>
                  <a:schemeClr val="dk1"/>
                </a:solidFill>
                <a:latin typeface="Georgia"/>
                <a:ea typeface="Georgia"/>
                <a:cs typeface="Georgia"/>
                <a:sym typeface="Georgia"/>
              </a:rPr>
              <a:t>La marge entre le bord inférieur du billet et l’image de vrais billets est inférieur à celle des faux billets.</a:t>
            </a:r>
            <a:endParaRPr>
              <a:solidFill>
                <a:schemeClr val="dk1"/>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4"/>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488" name="Google Shape;488;p34"/>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489" name="Google Shape;489;p34"/>
          <p:cNvGrpSpPr/>
          <p:nvPr/>
        </p:nvGrpSpPr>
        <p:grpSpPr>
          <a:xfrm>
            <a:off x="8478" y="-16428"/>
            <a:ext cx="2530797" cy="5286523"/>
            <a:chOff x="-145370" y="0"/>
            <a:chExt cx="3374396" cy="7048698"/>
          </a:xfrm>
        </p:grpSpPr>
        <p:grpSp>
          <p:nvGrpSpPr>
            <p:cNvPr id="490" name="Google Shape;490;p34"/>
            <p:cNvGrpSpPr/>
            <p:nvPr/>
          </p:nvGrpSpPr>
          <p:grpSpPr>
            <a:xfrm>
              <a:off x="-145370" y="0"/>
              <a:ext cx="3374396" cy="7048698"/>
              <a:chOff x="-145370" y="0"/>
              <a:chExt cx="3374396" cy="7048698"/>
            </a:xfrm>
          </p:grpSpPr>
          <p:grpSp>
            <p:nvGrpSpPr>
              <p:cNvPr id="491" name="Google Shape;491;p34"/>
              <p:cNvGrpSpPr/>
              <p:nvPr/>
            </p:nvGrpSpPr>
            <p:grpSpPr>
              <a:xfrm>
                <a:off x="-145370" y="0"/>
                <a:ext cx="3374396" cy="7048698"/>
                <a:chOff x="-145370" y="0"/>
                <a:chExt cx="3374396" cy="7048698"/>
              </a:xfrm>
            </p:grpSpPr>
            <p:grpSp>
              <p:nvGrpSpPr>
                <p:cNvPr id="492" name="Google Shape;492;p34"/>
                <p:cNvGrpSpPr/>
                <p:nvPr/>
              </p:nvGrpSpPr>
              <p:grpSpPr>
                <a:xfrm>
                  <a:off x="-145370" y="190698"/>
                  <a:ext cx="3374396" cy="6858000"/>
                  <a:chOff x="4791660" y="190698"/>
                  <a:chExt cx="3374396" cy="6858000"/>
                </a:xfrm>
              </p:grpSpPr>
              <p:sp>
                <p:nvSpPr>
                  <p:cNvPr id="493" name="Google Shape;493;p34"/>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94" name="Google Shape;494;p34"/>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495" name="Google Shape;495;p34"/>
                  <p:cNvGrpSpPr/>
                  <p:nvPr/>
                </p:nvGrpSpPr>
                <p:grpSpPr>
                  <a:xfrm>
                    <a:off x="4795354" y="2086871"/>
                    <a:ext cx="3205536" cy="523200"/>
                    <a:chOff x="4798571" y="2086871"/>
                    <a:chExt cx="3205536" cy="523200"/>
                  </a:xfrm>
                </p:grpSpPr>
                <p:sp>
                  <p:nvSpPr>
                    <p:cNvPr id="496" name="Google Shape;496;p34"/>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497" name="Google Shape;497;p34"/>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498" name="Google Shape;498;p34"/>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499" name="Google Shape;499;p34"/>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500" name="Google Shape;500;p34"/>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501" name="Google Shape;501;p34"/>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502" name="Google Shape;502;p34"/>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503" name="Google Shape;503;p34"/>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504" name="Google Shape;504;p34"/>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505" name="Google Shape;505;p34"/>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506" name="Google Shape;506;p34"/>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507" name="Google Shape;507;p34"/>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508" name="Google Shape;508;p34"/>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509" name="Google Shape;509;p34">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510" name="Google Shape;510;p34"/>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511" name="Google Shape;511;p34"/>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512" name="Google Shape;512;p34"/>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513" name="Google Shape;513;p34"/>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514" name="Google Shape;514;p34"/>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515" name="Google Shape;515;p34"/>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516" name="Google Shape;516;p34"/>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517" name="Google Shape;517;p34"/>
          <p:cNvSpPr/>
          <p:nvPr/>
        </p:nvSpPr>
        <p:spPr>
          <a:xfrm>
            <a:off x="-12" y="1957913"/>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518" name="Google Shape;518;p34"/>
          <p:cNvGrpSpPr/>
          <p:nvPr/>
        </p:nvGrpSpPr>
        <p:grpSpPr>
          <a:xfrm>
            <a:off x="8569364" y="4612547"/>
            <a:ext cx="574624" cy="530965"/>
            <a:chOff x="6229560" y="3783450"/>
            <a:chExt cx="841200" cy="841200"/>
          </a:xfrm>
        </p:grpSpPr>
        <p:sp>
          <p:nvSpPr>
            <p:cNvPr id="519" name="Google Shape;519;p34"/>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520" name="Google Shape;520;p34"/>
            <p:cNvSpPr txBox="1"/>
            <p:nvPr/>
          </p:nvSpPr>
          <p:spPr>
            <a:xfrm>
              <a:off x="6407586" y="3973212"/>
              <a:ext cx="5898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10</a:t>
              </a:r>
              <a:endParaRPr b="0" i="0" sz="1400" u="none" cap="none" strike="noStrike">
                <a:solidFill>
                  <a:schemeClr val="lt1"/>
                </a:solidFill>
                <a:latin typeface="Oswald"/>
                <a:ea typeface="Oswald"/>
                <a:cs typeface="Oswald"/>
                <a:sym typeface="Oswald"/>
              </a:endParaRPr>
            </a:p>
          </p:txBody>
        </p:sp>
      </p:grpSp>
      <p:sp>
        <p:nvSpPr>
          <p:cNvPr id="521" name="Google Shape;521;p34"/>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522" name="Google Shape;522;p34"/>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523" name="Google Shape;523;p34"/>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524" name="Google Shape;524;p34"/>
          <p:cNvSpPr txBox="1"/>
          <p:nvPr/>
        </p:nvSpPr>
        <p:spPr>
          <a:xfrm>
            <a:off x="2399400" y="-102675"/>
            <a:ext cx="37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solidFill>
                  <a:schemeClr val="lt1"/>
                </a:solidFill>
              </a:rPr>
              <a:t>Analyse bivariée</a:t>
            </a:r>
            <a:endParaRPr>
              <a:solidFill>
                <a:schemeClr val="lt1"/>
              </a:solidFill>
            </a:endParaRPr>
          </a:p>
        </p:txBody>
      </p:sp>
      <p:pic>
        <p:nvPicPr>
          <p:cNvPr id="525" name="Google Shape;525;p34"/>
          <p:cNvPicPr preferRelativeResize="0"/>
          <p:nvPr/>
        </p:nvPicPr>
        <p:blipFill>
          <a:blip r:embed="rId5">
            <a:alphaModFix/>
          </a:blip>
          <a:stretch>
            <a:fillRect/>
          </a:stretch>
        </p:blipFill>
        <p:spPr>
          <a:xfrm>
            <a:off x="3549563" y="949800"/>
            <a:ext cx="4391025" cy="3200400"/>
          </a:xfrm>
          <a:prstGeom prst="rect">
            <a:avLst/>
          </a:prstGeom>
          <a:noFill/>
          <a:ln>
            <a:noFill/>
          </a:ln>
        </p:spPr>
      </p:pic>
      <p:sp>
        <p:nvSpPr>
          <p:cNvPr id="526" name="Google Shape;526;p34"/>
          <p:cNvSpPr txBox="1"/>
          <p:nvPr/>
        </p:nvSpPr>
        <p:spPr>
          <a:xfrm>
            <a:off x="2519250" y="4040300"/>
            <a:ext cx="6173700" cy="1046700"/>
          </a:xfrm>
          <a:prstGeom prst="rect">
            <a:avLst/>
          </a:prstGeom>
          <a:noFill/>
          <a:ln>
            <a:noFill/>
          </a:ln>
        </p:spPr>
        <p:txBody>
          <a:bodyPr anchorCtr="0" anchor="t" bIns="91425" lIns="91425" spcFirstLastPara="1" rIns="91425" wrap="square" tIns="91425">
            <a:spAutoFit/>
          </a:bodyPr>
          <a:lstStyle/>
          <a:p>
            <a:pPr indent="-184150" lvl="0" marL="179999" rtl="0" algn="l">
              <a:spcBef>
                <a:spcPts val="0"/>
              </a:spcBef>
              <a:spcAft>
                <a:spcPts val="0"/>
              </a:spcAft>
              <a:buSzPts val="1400"/>
              <a:buChar char="➢"/>
            </a:pPr>
            <a:r>
              <a:rPr lang="fr"/>
              <a:t>Forte corrélation positive entre is_genuine et length et entre height_left et height_right.</a:t>
            </a:r>
            <a:endParaRPr/>
          </a:p>
          <a:p>
            <a:pPr indent="-184150" lvl="0" marL="179999" rtl="0" algn="l">
              <a:spcBef>
                <a:spcPts val="0"/>
              </a:spcBef>
              <a:spcAft>
                <a:spcPts val="0"/>
              </a:spcAft>
              <a:buSzPts val="1400"/>
              <a:buChar char="➢"/>
            </a:pPr>
            <a:r>
              <a:rPr lang="fr"/>
              <a:t>Forte corrélation négative entre is_genuine et margin_low et entre margin_low et length.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35"/>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533" name="Google Shape;533;p35"/>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534" name="Google Shape;534;p35"/>
          <p:cNvGrpSpPr/>
          <p:nvPr/>
        </p:nvGrpSpPr>
        <p:grpSpPr>
          <a:xfrm>
            <a:off x="8478" y="-16428"/>
            <a:ext cx="2530797" cy="5286523"/>
            <a:chOff x="-145370" y="0"/>
            <a:chExt cx="3374396" cy="7048698"/>
          </a:xfrm>
        </p:grpSpPr>
        <p:grpSp>
          <p:nvGrpSpPr>
            <p:cNvPr id="535" name="Google Shape;535;p35"/>
            <p:cNvGrpSpPr/>
            <p:nvPr/>
          </p:nvGrpSpPr>
          <p:grpSpPr>
            <a:xfrm>
              <a:off x="-145370" y="0"/>
              <a:ext cx="3374396" cy="7048698"/>
              <a:chOff x="-145370" y="0"/>
              <a:chExt cx="3374396" cy="7048698"/>
            </a:xfrm>
          </p:grpSpPr>
          <p:grpSp>
            <p:nvGrpSpPr>
              <p:cNvPr id="536" name="Google Shape;536;p35"/>
              <p:cNvGrpSpPr/>
              <p:nvPr/>
            </p:nvGrpSpPr>
            <p:grpSpPr>
              <a:xfrm>
                <a:off x="-145370" y="0"/>
                <a:ext cx="3374396" cy="7048698"/>
                <a:chOff x="-145370" y="0"/>
                <a:chExt cx="3374396" cy="7048698"/>
              </a:xfrm>
            </p:grpSpPr>
            <p:grpSp>
              <p:nvGrpSpPr>
                <p:cNvPr id="537" name="Google Shape;537;p35"/>
                <p:cNvGrpSpPr/>
                <p:nvPr/>
              </p:nvGrpSpPr>
              <p:grpSpPr>
                <a:xfrm>
                  <a:off x="-145370" y="190698"/>
                  <a:ext cx="3374396" cy="6858000"/>
                  <a:chOff x="4791660" y="190698"/>
                  <a:chExt cx="3374396" cy="6858000"/>
                </a:xfrm>
              </p:grpSpPr>
              <p:sp>
                <p:nvSpPr>
                  <p:cNvPr id="538" name="Google Shape;538;p35"/>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539" name="Google Shape;539;p35"/>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540" name="Google Shape;540;p35"/>
                  <p:cNvGrpSpPr/>
                  <p:nvPr/>
                </p:nvGrpSpPr>
                <p:grpSpPr>
                  <a:xfrm>
                    <a:off x="4795354" y="2086871"/>
                    <a:ext cx="3205536" cy="523200"/>
                    <a:chOff x="4798571" y="2086871"/>
                    <a:chExt cx="3205536" cy="523200"/>
                  </a:xfrm>
                </p:grpSpPr>
                <p:sp>
                  <p:nvSpPr>
                    <p:cNvPr id="541" name="Google Shape;541;p35"/>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542" name="Google Shape;542;p35"/>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543" name="Google Shape;543;p35"/>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544" name="Google Shape;544;p35"/>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545" name="Google Shape;545;p35"/>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546" name="Google Shape;546;p35"/>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547" name="Google Shape;547;p35"/>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548" name="Google Shape;548;p35"/>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549" name="Google Shape;549;p35"/>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550" name="Google Shape;550;p35"/>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551" name="Google Shape;551;p35"/>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552" name="Google Shape;552;p35"/>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553" name="Google Shape;553;p35"/>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554" name="Google Shape;554;p35"/>
          <p:cNvSpPr txBox="1"/>
          <p:nvPr/>
        </p:nvSpPr>
        <p:spPr>
          <a:xfrm>
            <a:off x="2595191" y="961901"/>
            <a:ext cx="6444900" cy="5310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3F3F3F"/>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endParaRPr b="0" i="0" sz="1100" u="none" cap="none" strike="noStrike">
              <a:solidFill>
                <a:srgbClr val="000000"/>
              </a:solidFill>
              <a:latin typeface="Arial"/>
              <a:ea typeface="Arial"/>
              <a:cs typeface="Arial"/>
              <a:sym typeface="Arial"/>
            </a:endParaRPr>
          </a:p>
        </p:txBody>
      </p:sp>
      <p:sp>
        <p:nvSpPr>
          <p:cNvPr id="555" name="Google Shape;555;p35">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556" name="Google Shape;556;p35"/>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557" name="Google Shape;557;p35"/>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558" name="Google Shape;558;p35"/>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559" name="Google Shape;559;p35"/>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560" name="Google Shape;560;p35"/>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561" name="Google Shape;561;p35"/>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562" name="Google Shape;562;p35"/>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563" name="Google Shape;563;p35"/>
          <p:cNvSpPr/>
          <p:nvPr/>
        </p:nvSpPr>
        <p:spPr>
          <a:xfrm>
            <a:off x="11238" y="2404325"/>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564" name="Google Shape;564;p35"/>
          <p:cNvGrpSpPr/>
          <p:nvPr/>
        </p:nvGrpSpPr>
        <p:grpSpPr>
          <a:xfrm>
            <a:off x="8569469" y="4612769"/>
            <a:ext cx="605159" cy="530965"/>
            <a:chOff x="6229560" y="3783450"/>
            <a:chExt cx="841200" cy="841200"/>
          </a:xfrm>
        </p:grpSpPr>
        <p:sp>
          <p:nvSpPr>
            <p:cNvPr id="565" name="Google Shape;565;p35"/>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566" name="Google Shape;566;p35"/>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11</a:t>
              </a:r>
              <a:endParaRPr b="0" i="0" sz="1400" u="none" cap="none" strike="noStrike">
                <a:solidFill>
                  <a:schemeClr val="lt1"/>
                </a:solidFill>
                <a:latin typeface="Oswald"/>
                <a:ea typeface="Oswald"/>
                <a:cs typeface="Oswald"/>
                <a:sym typeface="Oswald"/>
              </a:endParaRPr>
            </a:p>
          </p:txBody>
        </p:sp>
      </p:grpSp>
      <p:sp>
        <p:nvSpPr>
          <p:cNvPr id="567" name="Google Shape;567;p35"/>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568" name="Google Shape;568;p35"/>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569" name="Google Shape;569;p35"/>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pic>
        <p:nvPicPr>
          <p:cNvPr id="570" name="Google Shape;570;p35"/>
          <p:cNvPicPr preferRelativeResize="0"/>
          <p:nvPr/>
        </p:nvPicPr>
        <p:blipFill>
          <a:blip r:embed="rId5">
            <a:alphaModFix/>
          </a:blip>
          <a:stretch>
            <a:fillRect/>
          </a:stretch>
        </p:blipFill>
        <p:spPr>
          <a:xfrm>
            <a:off x="3188000" y="1147225"/>
            <a:ext cx="4783700" cy="3087450"/>
          </a:xfrm>
          <a:prstGeom prst="rect">
            <a:avLst/>
          </a:prstGeom>
          <a:noFill/>
          <a:ln>
            <a:noFill/>
          </a:ln>
        </p:spPr>
      </p:pic>
      <p:sp>
        <p:nvSpPr>
          <p:cNvPr id="571" name="Google Shape;571;p35"/>
          <p:cNvSpPr txBox="1"/>
          <p:nvPr/>
        </p:nvSpPr>
        <p:spPr>
          <a:xfrm>
            <a:off x="2776950" y="4430700"/>
            <a:ext cx="560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solidFill>
                  <a:schemeClr val="dk1"/>
                </a:solidFill>
                <a:latin typeface="Georgia"/>
                <a:ea typeface="Georgia"/>
                <a:cs typeface="Georgia"/>
                <a:sym typeface="Georgia"/>
              </a:rPr>
              <a:t>47.4 % de l’inertie totale sont associés à F1, et 22 % à F2, alors le premier plan factoriel représente 69.4 % de l’inertie totale.</a:t>
            </a:r>
            <a:endParaRPr/>
          </a:p>
        </p:txBody>
      </p:sp>
      <p:sp>
        <p:nvSpPr>
          <p:cNvPr id="572" name="Google Shape;572;p35"/>
          <p:cNvSpPr txBox="1"/>
          <p:nvPr/>
        </p:nvSpPr>
        <p:spPr>
          <a:xfrm>
            <a:off x="2367275" y="-102675"/>
            <a:ext cx="366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1"/>
                </a:solidFill>
              </a:rPr>
              <a:t>Analyse de </a:t>
            </a:r>
            <a:r>
              <a:rPr lang="fr">
                <a:solidFill>
                  <a:schemeClr val="lt1"/>
                </a:solidFill>
              </a:rPr>
              <a:t>l'éboulis</a:t>
            </a:r>
            <a:r>
              <a:rPr lang="fr">
                <a:solidFill>
                  <a:schemeClr val="lt1"/>
                </a:solidFill>
              </a:rPr>
              <a:t> des valeurs propres</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563"/>
                                        </p:tgtEl>
                                        <p:attrNameLst>
                                          <p:attrName>style.visibility</p:attrName>
                                        </p:attrNameLst>
                                      </p:cBhvr>
                                      <p:to>
                                        <p:strVal val="visible"/>
                                      </p:to>
                                    </p:set>
                                    <p:anim calcmode="lin" valueType="num">
                                      <p:cBhvr additive="base">
                                        <p:cTn dur="3200"/>
                                        <p:tgtEl>
                                          <p:spTgt spid="56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36"/>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579" name="Google Shape;579;p36"/>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580" name="Google Shape;580;p36"/>
          <p:cNvGrpSpPr/>
          <p:nvPr/>
        </p:nvGrpSpPr>
        <p:grpSpPr>
          <a:xfrm>
            <a:off x="8478" y="-16428"/>
            <a:ext cx="2530797" cy="5286523"/>
            <a:chOff x="-145370" y="0"/>
            <a:chExt cx="3374396" cy="7048698"/>
          </a:xfrm>
        </p:grpSpPr>
        <p:grpSp>
          <p:nvGrpSpPr>
            <p:cNvPr id="581" name="Google Shape;581;p36"/>
            <p:cNvGrpSpPr/>
            <p:nvPr/>
          </p:nvGrpSpPr>
          <p:grpSpPr>
            <a:xfrm>
              <a:off x="-145370" y="0"/>
              <a:ext cx="3374396" cy="7048698"/>
              <a:chOff x="-145370" y="0"/>
              <a:chExt cx="3374396" cy="7048698"/>
            </a:xfrm>
          </p:grpSpPr>
          <p:grpSp>
            <p:nvGrpSpPr>
              <p:cNvPr id="582" name="Google Shape;582;p36"/>
              <p:cNvGrpSpPr/>
              <p:nvPr/>
            </p:nvGrpSpPr>
            <p:grpSpPr>
              <a:xfrm>
                <a:off x="-145370" y="0"/>
                <a:ext cx="3374396" cy="7048698"/>
                <a:chOff x="-145370" y="0"/>
                <a:chExt cx="3374396" cy="7048698"/>
              </a:xfrm>
            </p:grpSpPr>
            <p:grpSp>
              <p:nvGrpSpPr>
                <p:cNvPr id="583" name="Google Shape;583;p36"/>
                <p:cNvGrpSpPr/>
                <p:nvPr/>
              </p:nvGrpSpPr>
              <p:grpSpPr>
                <a:xfrm>
                  <a:off x="-145370" y="190698"/>
                  <a:ext cx="3374396" cy="6858000"/>
                  <a:chOff x="4791660" y="190698"/>
                  <a:chExt cx="3374396" cy="6858000"/>
                </a:xfrm>
              </p:grpSpPr>
              <p:sp>
                <p:nvSpPr>
                  <p:cNvPr id="584" name="Google Shape;584;p36"/>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585" name="Google Shape;585;p36"/>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586" name="Google Shape;586;p36"/>
                  <p:cNvGrpSpPr/>
                  <p:nvPr/>
                </p:nvGrpSpPr>
                <p:grpSpPr>
                  <a:xfrm>
                    <a:off x="4795354" y="2086871"/>
                    <a:ext cx="3205536" cy="523200"/>
                    <a:chOff x="4798571" y="2086871"/>
                    <a:chExt cx="3205536" cy="523200"/>
                  </a:xfrm>
                </p:grpSpPr>
                <p:sp>
                  <p:nvSpPr>
                    <p:cNvPr id="587" name="Google Shape;587;p36"/>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588" name="Google Shape;588;p36"/>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589" name="Google Shape;589;p36"/>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590" name="Google Shape;590;p36"/>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591" name="Google Shape;591;p36"/>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592" name="Google Shape;592;p36"/>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593" name="Google Shape;593;p36"/>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594" name="Google Shape;594;p36"/>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595" name="Google Shape;595;p36"/>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596" name="Google Shape;596;p36"/>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597" name="Google Shape;597;p36"/>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598" name="Google Shape;598;p36"/>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599" name="Google Shape;599;p36"/>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600" name="Google Shape;600;p36">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601" name="Google Shape;601;p36"/>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602" name="Google Shape;602;p36"/>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603" name="Google Shape;603;p36"/>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604" name="Google Shape;604;p36"/>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605" name="Google Shape;605;p36"/>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606" name="Google Shape;606;p36"/>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607" name="Google Shape;607;p36"/>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608" name="Google Shape;608;p36"/>
          <p:cNvSpPr/>
          <p:nvPr/>
        </p:nvSpPr>
        <p:spPr>
          <a:xfrm>
            <a:off x="11238" y="2404325"/>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609" name="Google Shape;609;p36"/>
          <p:cNvGrpSpPr/>
          <p:nvPr/>
        </p:nvGrpSpPr>
        <p:grpSpPr>
          <a:xfrm>
            <a:off x="8569469" y="4612769"/>
            <a:ext cx="605159" cy="530965"/>
            <a:chOff x="6229560" y="3783450"/>
            <a:chExt cx="841200" cy="841200"/>
          </a:xfrm>
        </p:grpSpPr>
        <p:sp>
          <p:nvSpPr>
            <p:cNvPr id="610" name="Google Shape;610;p36"/>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611" name="Google Shape;611;p36"/>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12</a:t>
              </a:r>
              <a:endParaRPr b="0" i="0" sz="1400" u="none" cap="none" strike="noStrike">
                <a:solidFill>
                  <a:schemeClr val="lt1"/>
                </a:solidFill>
                <a:latin typeface="Oswald"/>
                <a:ea typeface="Oswald"/>
                <a:cs typeface="Oswald"/>
                <a:sym typeface="Oswald"/>
              </a:endParaRPr>
            </a:p>
          </p:txBody>
        </p:sp>
      </p:grpSp>
      <p:sp>
        <p:nvSpPr>
          <p:cNvPr id="612" name="Google Shape;612;p36"/>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613" name="Google Shape;613;p36"/>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614" name="Google Shape;614;p36"/>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615" name="Google Shape;615;p36"/>
          <p:cNvSpPr txBox="1"/>
          <p:nvPr/>
        </p:nvSpPr>
        <p:spPr>
          <a:xfrm>
            <a:off x="2410650" y="4033825"/>
            <a:ext cx="6548400" cy="1046700"/>
          </a:xfrm>
          <a:prstGeom prst="rect">
            <a:avLst/>
          </a:prstGeom>
          <a:noFill/>
          <a:ln>
            <a:noFill/>
          </a:ln>
        </p:spPr>
        <p:txBody>
          <a:bodyPr anchorCtr="0" anchor="t" bIns="91425" lIns="91425" spcFirstLastPara="1" rIns="91425" wrap="square" tIns="91425">
            <a:spAutoFit/>
          </a:bodyPr>
          <a:lstStyle/>
          <a:p>
            <a:pPr indent="-178899" lvl="0" marL="179999" rtl="0" algn="l">
              <a:spcBef>
                <a:spcPts val="0"/>
              </a:spcBef>
              <a:spcAft>
                <a:spcPts val="0"/>
              </a:spcAft>
              <a:buClr>
                <a:schemeClr val="dk1"/>
              </a:buClr>
              <a:buSzPts val="1400"/>
              <a:buFont typeface="Georgia"/>
              <a:buChar char="➢"/>
            </a:pPr>
            <a:r>
              <a:rPr lang="fr">
                <a:solidFill>
                  <a:schemeClr val="dk1"/>
                </a:solidFill>
                <a:latin typeface="Georgia"/>
                <a:ea typeface="Georgia"/>
                <a:cs typeface="Georgia"/>
                <a:sym typeface="Georgia"/>
              </a:rPr>
              <a:t>Les variables height_left, height_right, margin_low, et length sont représentés par F1</a:t>
            </a:r>
            <a:r>
              <a:rPr lang="fr">
                <a:solidFill>
                  <a:schemeClr val="dk1"/>
                </a:solidFill>
                <a:latin typeface="Georgia"/>
                <a:ea typeface="Georgia"/>
                <a:cs typeface="Georgia"/>
                <a:sym typeface="Georgia"/>
              </a:rPr>
              <a:t>.</a:t>
            </a:r>
            <a:endParaRPr>
              <a:solidFill>
                <a:schemeClr val="dk1"/>
              </a:solidFill>
              <a:latin typeface="Georgia"/>
              <a:ea typeface="Georgia"/>
              <a:cs typeface="Georgia"/>
              <a:sym typeface="Georgia"/>
            </a:endParaRPr>
          </a:p>
          <a:p>
            <a:pPr indent="-184150" lvl="0" marL="179999" rtl="0" algn="l">
              <a:spcBef>
                <a:spcPts val="0"/>
              </a:spcBef>
              <a:spcAft>
                <a:spcPts val="0"/>
              </a:spcAft>
              <a:buClr>
                <a:schemeClr val="dk1"/>
              </a:buClr>
              <a:buSzPts val="1400"/>
              <a:buFont typeface="Georgia"/>
              <a:buChar char="➢"/>
            </a:pPr>
            <a:r>
              <a:rPr lang="fr">
                <a:solidFill>
                  <a:schemeClr val="dk1"/>
                </a:solidFill>
                <a:latin typeface="Georgia"/>
                <a:ea typeface="Georgia"/>
                <a:cs typeface="Georgia"/>
                <a:sym typeface="Georgia"/>
              </a:rPr>
              <a:t>La variable diagonal est représentés par F2.</a:t>
            </a:r>
            <a:endParaRPr>
              <a:solidFill>
                <a:schemeClr val="dk1"/>
              </a:solidFill>
              <a:latin typeface="Georgia"/>
              <a:ea typeface="Georgia"/>
              <a:cs typeface="Georgia"/>
              <a:sym typeface="Georgia"/>
            </a:endParaRPr>
          </a:p>
          <a:p>
            <a:pPr indent="-184150" lvl="0" marL="179999" rtl="0" algn="l">
              <a:spcBef>
                <a:spcPts val="0"/>
              </a:spcBef>
              <a:spcAft>
                <a:spcPts val="0"/>
              </a:spcAft>
              <a:buClr>
                <a:schemeClr val="dk1"/>
              </a:buClr>
              <a:buSzPts val="1400"/>
              <a:buFont typeface="Georgia"/>
              <a:buChar char="➢"/>
            </a:pPr>
            <a:r>
              <a:rPr lang="fr">
                <a:solidFill>
                  <a:schemeClr val="dk1"/>
                </a:solidFill>
                <a:latin typeface="Georgia"/>
                <a:ea typeface="Georgia"/>
                <a:cs typeface="Georgia"/>
                <a:sym typeface="Georgia"/>
              </a:rPr>
              <a:t>La variable margin_up n’est pas bien représenté ni par F1 ni par F2.</a:t>
            </a:r>
            <a:endParaRPr>
              <a:solidFill>
                <a:schemeClr val="dk1"/>
              </a:solidFill>
              <a:latin typeface="Georgia"/>
              <a:ea typeface="Georgia"/>
              <a:cs typeface="Georgia"/>
              <a:sym typeface="Georgia"/>
            </a:endParaRPr>
          </a:p>
        </p:txBody>
      </p:sp>
      <p:sp>
        <p:nvSpPr>
          <p:cNvPr id="616" name="Google Shape;616;p36"/>
          <p:cNvSpPr txBox="1"/>
          <p:nvPr/>
        </p:nvSpPr>
        <p:spPr>
          <a:xfrm>
            <a:off x="2367275" y="-102675"/>
            <a:ext cx="532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1"/>
                </a:solidFill>
              </a:rPr>
              <a:t>Représentation des variables par le cercle des corrélations</a:t>
            </a:r>
            <a:endParaRPr>
              <a:solidFill>
                <a:schemeClr val="lt1"/>
              </a:solidFill>
            </a:endParaRPr>
          </a:p>
        </p:txBody>
      </p:sp>
      <p:pic>
        <p:nvPicPr>
          <p:cNvPr id="617" name="Google Shape;617;p36"/>
          <p:cNvPicPr preferRelativeResize="0"/>
          <p:nvPr/>
        </p:nvPicPr>
        <p:blipFill>
          <a:blip r:embed="rId5">
            <a:alphaModFix/>
          </a:blip>
          <a:stretch>
            <a:fillRect/>
          </a:stretch>
        </p:blipFill>
        <p:spPr>
          <a:xfrm>
            <a:off x="3316013" y="716488"/>
            <a:ext cx="4527675" cy="3295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7"/>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624" name="Google Shape;624;p37"/>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625" name="Google Shape;625;p37"/>
          <p:cNvGrpSpPr/>
          <p:nvPr/>
        </p:nvGrpSpPr>
        <p:grpSpPr>
          <a:xfrm>
            <a:off x="8478" y="-16428"/>
            <a:ext cx="2530797" cy="5286523"/>
            <a:chOff x="-145370" y="0"/>
            <a:chExt cx="3374396" cy="7048698"/>
          </a:xfrm>
        </p:grpSpPr>
        <p:grpSp>
          <p:nvGrpSpPr>
            <p:cNvPr id="626" name="Google Shape;626;p37"/>
            <p:cNvGrpSpPr/>
            <p:nvPr/>
          </p:nvGrpSpPr>
          <p:grpSpPr>
            <a:xfrm>
              <a:off x="-145370" y="0"/>
              <a:ext cx="3374396" cy="7048698"/>
              <a:chOff x="-145370" y="0"/>
              <a:chExt cx="3374396" cy="7048698"/>
            </a:xfrm>
          </p:grpSpPr>
          <p:grpSp>
            <p:nvGrpSpPr>
              <p:cNvPr id="627" name="Google Shape;627;p37"/>
              <p:cNvGrpSpPr/>
              <p:nvPr/>
            </p:nvGrpSpPr>
            <p:grpSpPr>
              <a:xfrm>
                <a:off x="-145370" y="0"/>
                <a:ext cx="3374396" cy="7048698"/>
                <a:chOff x="-145370" y="0"/>
                <a:chExt cx="3374396" cy="7048698"/>
              </a:xfrm>
            </p:grpSpPr>
            <p:grpSp>
              <p:nvGrpSpPr>
                <p:cNvPr id="628" name="Google Shape;628;p37"/>
                <p:cNvGrpSpPr/>
                <p:nvPr/>
              </p:nvGrpSpPr>
              <p:grpSpPr>
                <a:xfrm>
                  <a:off x="-145370" y="190698"/>
                  <a:ext cx="3374396" cy="6858000"/>
                  <a:chOff x="4791660" y="190698"/>
                  <a:chExt cx="3374396" cy="6858000"/>
                </a:xfrm>
              </p:grpSpPr>
              <p:sp>
                <p:nvSpPr>
                  <p:cNvPr id="629" name="Google Shape;629;p37"/>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630" name="Google Shape;630;p37"/>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631" name="Google Shape;631;p37"/>
                  <p:cNvGrpSpPr/>
                  <p:nvPr/>
                </p:nvGrpSpPr>
                <p:grpSpPr>
                  <a:xfrm>
                    <a:off x="4795354" y="2086871"/>
                    <a:ext cx="3205536" cy="523200"/>
                    <a:chOff x="4798571" y="2086871"/>
                    <a:chExt cx="3205536" cy="523200"/>
                  </a:xfrm>
                </p:grpSpPr>
                <p:sp>
                  <p:nvSpPr>
                    <p:cNvPr id="632" name="Google Shape;632;p37"/>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633" name="Google Shape;633;p37"/>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634" name="Google Shape;634;p37"/>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635" name="Google Shape;635;p37"/>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636" name="Google Shape;636;p37"/>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637" name="Google Shape;637;p37"/>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638" name="Google Shape;638;p37"/>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639" name="Google Shape;639;p37"/>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640" name="Google Shape;640;p37"/>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641" name="Google Shape;641;p37"/>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642" name="Google Shape;642;p37"/>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643" name="Google Shape;643;p37"/>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644" name="Google Shape;644;p37"/>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645" name="Google Shape;645;p37">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646" name="Google Shape;646;p37"/>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647" name="Google Shape;647;p37"/>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648" name="Google Shape;648;p37"/>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649" name="Google Shape;649;p37"/>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650" name="Google Shape;650;p37"/>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651" name="Google Shape;651;p37"/>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652" name="Google Shape;652;p37"/>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653" name="Google Shape;653;p37"/>
          <p:cNvSpPr/>
          <p:nvPr/>
        </p:nvSpPr>
        <p:spPr>
          <a:xfrm>
            <a:off x="11238" y="2404325"/>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654" name="Google Shape;654;p37"/>
          <p:cNvGrpSpPr/>
          <p:nvPr/>
        </p:nvGrpSpPr>
        <p:grpSpPr>
          <a:xfrm>
            <a:off x="8569469" y="4612769"/>
            <a:ext cx="605159" cy="530965"/>
            <a:chOff x="6229560" y="3783450"/>
            <a:chExt cx="841200" cy="841200"/>
          </a:xfrm>
        </p:grpSpPr>
        <p:sp>
          <p:nvSpPr>
            <p:cNvPr id="655" name="Google Shape;655;p37"/>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656" name="Google Shape;656;p37"/>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13</a:t>
              </a:r>
              <a:endParaRPr b="0" i="0" sz="1400" u="none" cap="none" strike="noStrike">
                <a:solidFill>
                  <a:schemeClr val="lt1"/>
                </a:solidFill>
                <a:latin typeface="Oswald"/>
                <a:ea typeface="Oswald"/>
                <a:cs typeface="Oswald"/>
                <a:sym typeface="Oswald"/>
              </a:endParaRPr>
            </a:p>
          </p:txBody>
        </p:sp>
      </p:grpSp>
      <p:sp>
        <p:nvSpPr>
          <p:cNvPr id="657" name="Google Shape;657;p37"/>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658" name="Google Shape;658;p37"/>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659" name="Google Shape;659;p37"/>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660" name="Google Shape;660;p37"/>
          <p:cNvSpPr txBox="1"/>
          <p:nvPr/>
        </p:nvSpPr>
        <p:spPr>
          <a:xfrm>
            <a:off x="2932100" y="4378625"/>
            <a:ext cx="560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dk1"/>
                </a:solidFill>
                <a:latin typeface="Georgia"/>
                <a:ea typeface="Georgia"/>
                <a:cs typeface="Georgia"/>
                <a:sym typeface="Georgia"/>
              </a:rPr>
              <a:t>une bonne répartition des billets selon leur nature sur F1 </a:t>
            </a:r>
            <a:r>
              <a:rPr lang="fr">
                <a:solidFill>
                  <a:schemeClr val="dk1"/>
                </a:solidFill>
                <a:latin typeface="Georgia"/>
                <a:ea typeface="Georgia"/>
                <a:cs typeface="Georgia"/>
                <a:sym typeface="Georgia"/>
              </a:rPr>
              <a:t>contrairement</a:t>
            </a:r>
            <a:r>
              <a:rPr lang="fr">
                <a:solidFill>
                  <a:schemeClr val="dk1"/>
                </a:solidFill>
                <a:latin typeface="Georgia"/>
                <a:ea typeface="Georgia"/>
                <a:cs typeface="Georgia"/>
                <a:sym typeface="Georgia"/>
              </a:rPr>
              <a:t> à F2.</a:t>
            </a:r>
            <a:endParaRPr/>
          </a:p>
        </p:txBody>
      </p:sp>
      <p:sp>
        <p:nvSpPr>
          <p:cNvPr id="661" name="Google Shape;661;p37"/>
          <p:cNvSpPr txBox="1"/>
          <p:nvPr/>
        </p:nvSpPr>
        <p:spPr>
          <a:xfrm>
            <a:off x="2382875" y="-102675"/>
            <a:ext cx="5216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1"/>
                </a:solidFill>
              </a:rPr>
              <a:t>Représentation des </a:t>
            </a:r>
            <a:r>
              <a:rPr lang="fr">
                <a:solidFill>
                  <a:schemeClr val="lt1"/>
                </a:solidFill>
              </a:rPr>
              <a:t>individus</a:t>
            </a:r>
            <a:r>
              <a:rPr lang="fr">
                <a:solidFill>
                  <a:schemeClr val="lt1"/>
                </a:solidFill>
              </a:rPr>
              <a:t> par le premier plan factoriel</a:t>
            </a:r>
            <a:endParaRPr>
              <a:solidFill>
                <a:schemeClr val="lt1"/>
              </a:solidFill>
            </a:endParaRPr>
          </a:p>
        </p:txBody>
      </p:sp>
      <p:pic>
        <p:nvPicPr>
          <p:cNvPr id="662" name="Google Shape;662;p37"/>
          <p:cNvPicPr preferRelativeResize="0"/>
          <p:nvPr/>
        </p:nvPicPr>
        <p:blipFill>
          <a:blip r:embed="rId5">
            <a:alphaModFix/>
          </a:blip>
          <a:stretch>
            <a:fillRect/>
          </a:stretch>
        </p:blipFill>
        <p:spPr>
          <a:xfrm>
            <a:off x="2840125" y="815175"/>
            <a:ext cx="4912400" cy="3216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38"/>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669" name="Google Shape;669;p38"/>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670" name="Google Shape;670;p38"/>
          <p:cNvGrpSpPr/>
          <p:nvPr/>
        </p:nvGrpSpPr>
        <p:grpSpPr>
          <a:xfrm>
            <a:off x="8478" y="-16428"/>
            <a:ext cx="2530797" cy="5286523"/>
            <a:chOff x="-145370" y="0"/>
            <a:chExt cx="3374396" cy="7048698"/>
          </a:xfrm>
        </p:grpSpPr>
        <p:grpSp>
          <p:nvGrpSpPr>
            <p:cNvPr id="671" name="Google Shape;671;p38"/>
            <p:cNvGrpSpPr/>
            <p:nvPr/>
          </p:nvGrpSpPr>
          <p:grpSpPr>
            <a:xfrm>
              <a:off x="-145370" y="0"/>
              <a:ext cx="3374396" cy="7048698"/>
              <a:chOff x="-145370" y="0"/>
              <a:chExt cx="3374396" cy="7048698"/>
            </a:xfrm>
          </p:grpSpPr>
          <p:grpSp>
            <p:nvGrpSpPr>
              <p:cNvPr id="672" name="Google Shape;672;p38"/>
              <p:cNvGrpSpPr/>
              <p:nvPr/>
            </p:nvGrpSpPr>
            <p:grpSpPr>
              <a:xfrm>
                <a:off x="-145370" y="0"/>
                <a:ext cx="3374396" cy="7048698"/>
                <a:chOff x="-145370" y="0"/>
                <a:chExt cx="3374396" cy="7048698"/>
              </a:xfrm>
            </p:grpSpPr>
            <p:grpSp>
              <p:nvGrpSpPr>
                <p:cNvPr id="673" name="Google Shape;673;p38"/>
                <p:cNvGrpSpPr/>
                <p:nvPr/>
              </p:nvGrpSpPr>
              <p:grpSpPr>
                <a:xfrm>
                  <a:off x="-145370" y="190698"/>
                  <a:ext cx="3374396" cy="6858000"/>
                  <a:chOff x="4791660" y="190698"/>
                  <a:chExt cx="3374396" cy="6858000"/>
                </a:xfrm>
              </p:grpSpPr>
              <p:sp>
                <p:nvSpPr>
                  <p:cNvPr id="674" name="Google Shape;674;p38"/>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675" name="Google Shape;675;p38"/>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676" name="Google Shape;676;p38"/>
                  <p:cNvGrpSpPr/>
                  <p:nvPr/>
                </p:nvGrpSpPr>
                <p:grpSpPr>
                  <a:xfrm>
                    <a:off x="4795354" y="2086871"/>
                    <a:ext cx="3205536" cy="523200"/>
                    <a:chOff x="4798571" y="2086871"/>
                    <a:chExt cx="3205536" cy="523200"/>
                  </a:xfrm>
                </p:grpSpPr>
                <p:sp>
                  <p:nvSpPr>
                    <p:cNvPr id="677" name="Google Shape;677;p38"/>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678" name="Google Shape;678;p38"/>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679" name="Google Shape;679;p38"/>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680" name="Google Shape;680;p38"/>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681" name="Google Shape;681;p38"/>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682" name="Google Shape;682;p38"/>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683" name="Google Shape;683;p38"/>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684" name="Google Shape;684;p38"/>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685" name="Google Shape;685;p38"/>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686" name="Google Shape;686;p38"/>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687" name="Google Shape;687;p38"/>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688" name="Google Shape;688;p38"/>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689" name="Google Shape;689;p38"/>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690" name="Google Shape;690;p38">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691" name="Google Shape;691;p38"/>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692" name="Google Shape;692;p38"/>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693" name="Google Shape;693;p38"/>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694" name="Google Shape;694;p38"/>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695" name="Google Shape;695;p38"/>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696" name="Google Shape;696;p38"/>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697" name="Google Shape;697;p38"/>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698" name="Google Shape;698;p38"/>
          <p:cNvSpPr/>
          <p:nvPr/>
        </p:nvSpPr>
        <p:spPr>
          <a:xfrm>
            <a:off x="11238" y="2404325"/>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699" name="Google Shape;699;p38"/>
          <p:cNvGrpSpPr/>
          <p:nvPr/>
        </p:nvGrpSpPr>
        <p:grpSpPr>
          <a:xfrm>
            <a:off x="8569469" y="4612769"/>
            <a:ext cx="605159" cy="530965"/>
            <a:chOff x="6229560" y="3783450"/>
            <a:chExt cx="841200" cy="841200"/>
          </a:xfrm>
        </p:grpSpPr>
        <p:sp>
          <p:nvSpPr>
            <p:cNvPr id="700" name="Google Shape;700;p38"/>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701" name="Google Shape;701;p38"/>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14</a:t>
              </a:r>
              <a:endParaRPr b="0" i="0" sz="1400" u="none" cap="none" strike="noStrike">
                <a:solidFill>
                  <a:schemeClr val="lt1"/>
                </a:solidFill>
                <a:latin typeface="Oswald"/>
                <a:ea typeface="Oswald"/>
                <a:cs typeface="Oswald"/>
                <a:sym typeface="Oswald"/>
              </a:endParaRPr>
            </a:p>
          </p:txBody>
        </p:sp>
      </p:grpSp>
      <p:sp>
        <p:nvSpPr>
          <p:cNvPr id="702" name="Google Shape;702;p38"/>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703" name="Google Shape;703;p38"/>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704" name="Google Shape;704;p38"/>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705" name="Google Shape;705;p38"/>
          <p:cNvSpPr txBox="1"/>
          <p:nvPr/>
        </p:nvSpPr>
        <p:spPr>
          <a:xfrm>
            <a:off x="2368175" y="-102675"/>
            <a:ext cx="620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1"/>
                </a:solidFill>
              </a:rPr>
              <a:t>Analyse de </a:t>
            </a:r>
            <a:r>
              <a:rPr lang="fr">
                <a:solidFill>
                  <a:schemeClr val="lt1"/>
                </a:solidFill>
              </a:rPr>
              <a:t>la qualité de représentation des </a:t>
            </a:r>
            <a:r>
              <a:rPr lang="fr">
                <a:solidFill>
                  <a:schemeClr val="lt1"/>
                </a:solidFill>
              </a:rPr>
              <a:t>individus</a:t>
            </a:r>
            <a:r>
              <a:rPr lang="fr">
                <a:solidFill>
                  <a:schemeClr val="lt1"/>
                </a:solidFill>
              </a:rPr>
              <a:t> </a:t>
            </a:r>
            <a:endParaRPr>
              <a:solidFill>
                <a:schemeClr val="lt1"/>
              </a:solidFill>
            </a:endParaRPr>
          </a:p>
        </p:txBody>
      </p:sp>
      <p:sp>
        <p:nvSpPr>
          <p:cNvPr id="706" name="Google Shape;706;p38"/>
          <p:cNvSpPr txBox="1"/>
          <p:nvPr/>
        </p:nvSpPr>
        <p:spPr>
          <a:xfrm>
            <a:off x="2932100" y="3987100"/>
            <a:ext cx="5969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Les billets n° 148, 143, 46, 45 et 154 sont bien </a:t>
            </a:r>
            <a:r>
              <a:rPr lang="fr"/>
              <a:t>projetés sur le premier plan factoriel</a:t>
            </a:r>
            <a:r>
              <a:rPr lang="fr"/>
              <a:t>.</a:t>
            </a:r>
            <a:endParaRPr/>
          </a:p>
        </p:txBody>
      </p:sp>
      <p:pic>
        <p:nvPicPr>
          <p:cNvPr id="707" name="Google Shape;707;p38"/>
          <p:cNvPicPr preferRelativeResize="0"/>
          <p:nvPr/>
        </p:nvPicPr>
        <p:blipFill>
          <a:blip r:embed="rId5">
            <a:alphaModFix/>
          </a:blip>
          <a:stretch>
            <a:fillRect/>
          </a:stretch>
        </p:blipFill>
        <p:spPr>
          <a:xfrm>
            <a:off x="4118500" y="1465075"/>
            <a:ext cx="2769600" cy="1968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39"/>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714" name="Google Shape;714;p39"/>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715" name="Google Shape;715;p39"/>
          <p:cNvGrpSpPr/>
          <p:nvPr/>
        </p:nvGrpSpPr>
        <p:grpSpPr>
          <a:xfrm>
            <a:off x="8478" y="-16428"/>
            <a:ext cx="2530797" cy="5286523"/>
            <a:chOff x="-145370" y="0"/>
            <a:chExt cx="3374396" cy="7048698"/>
          </a:xfrm>
        </p:grpSpPr>
        <p:grpSp>
          <p:nvGrpSpPr>
            <p:cNvPr id="716" name="Google Shape;716;p39"/>
            <p:cNvGrpSpPr/>
            <p:nvPr/>
          </p:nvGrpSpPr>
          <p:grpSpPr>
            <a:xfrm>
              <a:off x="-145370" y="0"/>
              <a:ext cx="3374396" cy="7048698"/>
              <a:chOff x="-145370" y="0"/>
              <a:chExt cx="3374396" cy="7048698"/>
            </a:xfrm>
          </p:grpSpPr>
          <p:grpSp>
            <p:nvGrpSpPr>
              <p:cNvPr id="717" name="Google Shape;717;p39"/>
              <p:cNvGrpSpPr/>
              <p:nvPr/>
            </p:nvGrpSpPr>
            <p:grpSpPr>
              <a:xfrm>
                <a:off x="-145370" y="0"/>
                <a:ext cx="3374396" cy="7048698"/>
                <a:chOff x="-145370" y="0"/>
                <a:chExt cx="3374396" cy="7048698"/>
              </a:xfrm>
            </p:grpSpPr>
            <p:grpSp>
              <p:nvGrpSpPr>
                <p:cNvPr id="718" name="Google Shape;718;p39"/>
                <p:cNvGrpSpPr/>
                <p:nvPr/>
              </p:nvGrpSpPr>
              <p:grpSpPr>
                <a:xfrm>
                  <a:off x="-145370" y="190698"/>
                  <a:ext cx="3374396" cy="6858000"/>
                  <a:chOff x="4791660" y="190698"/>
                  <a:chExt cx="3374396" cy="6858000"/>
                </a:xfrm>
              </p:grpSpPr>
              <p:sp>
                <p:nvSpPr>
                  <p:cNvPr id="719" name="Google Shape;719;p39"/>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720" name="Google Shape;720;p39"/>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721" name="Google Shape;721;p39"/>
                  <p:cNvGrpSpPr/>
                  <p:nvPr/>
                </p:nvGrpSpPr>
                <p:grpSpPr>
                  <a:xfrm>
                    <a:off x="4795354" y="2086871"/>
                    <a:ext cx="3205536" cy="523200"/>
                    <a:chOff x="4798571" y="2086871"/>
                    <a:chExt cx="3205536" cy="523200"/>
                  </a:xfrm>
                </p:grpSpPr>
                <p:sp>
                  <p:nvSpPr>
                    <p:cNvPr id="722" name="Google Shape;722;p39"/>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723" name="Google Shape;723;p39"/>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724" name="Google Shape;724;p39"/>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725" name="Google Shape;725;p39"/>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726" name="Google Shape;726;p39"/>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727" name="Google Shape;727;p39"/>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728" name="Google Shape;728;p39"/>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729" name="Google Shape;729;p39"/>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730" name="Google Shape;730;p39"/>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731" name="Google Shape;731;p39"/>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732" name="Google Shape;732;p39"/>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733" name="Google Shape;733;p39"/>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734" name="Google Shape;734;p39"/>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735" name="Google Shape;735;p39">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736" name="Google Shape;736;p39"/>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737" name="Google Shape;737;p39"/>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738" name="Google Shape;738;p39"/>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739" name="Google Shape;739;p39"/>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740" name="Google Shape;740;p39"/>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741" name="Google Shape;741;p39"/>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742" name="Google Shape;742;p39"/>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743" name="Google Shape;743;p39"/>
          <p:cNvSpPr/>
          <p:nvPr/>
        </p:nvSpPr>
        <p:spPr>
          <a:xfrm>
            <a:off x="11238" y="2404325"/>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744" name="Google Shape;744;p39"/>
          <p:cNvGrpSpPr/>
          <p:nvPr/>
        </p:nvGrpSpPr>
        <p:grpSpPr>
          <a:xfrm>
            <a:off x="8569469" y="4612769"/>
            <a:ext cx="605159" cy="530965"/>
            <a:chOff x="6229560" y="3783450"/>
            <a:chExt cx="841200" cy="841200"/>
          </a:xfrm>
        </p:grpSpPr>
        <p:sp>
          <p:nvSpPr>
            <p:cNvPr id="745" name="Google Shape;745;p39"/>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746" name="Google Shape;746;p39"/>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15</a:t>
              </a:r>
              <a:endParaRPr b="0" i="0" sz="1400" u="none" cap="none" strike="noStrike">
                <a:solidFill>
                  <a:schemeClr val="lt1"/>
                </a:solidFill>
                <a:latin typeface="Oswald"/>
                <a:ea typeface="Oswald"/>
                <a:cs typeface="Oswald"/>
                <a:sym typeface="Oswald"/>
              </a:endParaRPr>
            </a:p>
          </p:txBody>
        </p:sp>
      </p:grpSp>
      <p:sp>
        <p:nvSpPr>
          <p:cNvPr id="747" name="Google Shape;747;p39"/>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748" name="Google Shape;748;p39"/>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749" name="Google Shape;749;p39"/>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750" name="Google Shape;750;p39"/>
          <p:cNvSpPr txBox="1"/>
          <p:nvPr/>
        </p:nvSpPr>
        <p:spPr>
          <a:xfrm>
            <a:off x="2368175" y="-102675"/>
            <a:ext cx="620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1"/>
                </a:solidFill>
              </a:rPr>
              <a:t>Analyse de la contribution des individus </a:t>
            </a:r>
            <a:endParaRPr>
              <a:solidFill>
                <a:schemeClr val="lt1"/>
              </a:solidFill>
            </a:endParaRPr>
          </a:p>
        </p:txBody>
      </p:sp>
      <p:pic>
        <p:nvPicPr>
          <p:cNvPr id="751" name="Google Shape;751;p39"/>
          <p:cNvPicPr preferRelativeResize="0"/>
          <p:nvPr/>
        </p:nvPicPr>
        <p:blipFill>
          <a:blip r:embed="rId5">
            <a:alphaModFix/>
          </a:blip>
          <a:stretch>
            <a:fillRect/>
          </a:stretch>
        </p:blipFill>
        <p:spPr>
          <a:xfrm>
            <a:off x="4079263" y="1399275"/>
            <a:ext cx="3095625" cy="1885950"/>
          </a:xfrm>
          <a:prstGeom prst="rect">
            <a:avLst/>
          </a:prstGeom>
          <a:noFill/>
          <a:ln>
            <a:noFill/>
          </a:ln>
        </p:spPr>
      </p:pic>
      <p:sp>
        <p:nvSpPr>
          <p:cNvPr id="752" name="Google Shape;752;p39"/>
          <p:cNvSpPr txBox="1"/>
          <p:nvPr/>
        </p:nvSpPr>
        <p:spPr>
          <a:xfrm>
            <a:off x="2932100" y="3769575"/>
            <a:ext cx="5889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Les billets n° 166, 0, 4, 122 et 39 sont les billets qui se démarquent le plus des autres.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40"/>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759" name="Google Shape;759;p40"/>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760" name="Google Shape;760;p40"/>
          <p:cNvGrpSpPr/>
          <p:nvPr/>
        </p:nvGrpSpPr>
        <p:grpSpPr>
          <a:xfrm>
            <a:off x="8478" y="-16428"/>
            <a:ext cx="2530797" cy="5286523"/>
            <a:chOff x="-145370" y="0"/>
            <a:chExt cx="3374396" cy="7048698"/>
          </a:xfrm>
        </p:grpSpPr>
        <p:grpSp>
          <p:nvGrpSpPr>
            <p:cNvPr id="761" name="Google Shape;761;p40"/>
            <p:cNvGrpSpPr/>
            <p:nvPr/>
          </p:nvGrpSpPr>
          <p:grpSpPr>
            <a:xfrm>
              <a:off x="-145370" y="0"/>
              <a:ext cx="3374396" cy="7048698"/>
              <a:chOff x="-145370" y="0"/>
              <a:chExt cx="3374396" cy="7048698"/>
            </a:xfrm>
          </p:grpSpPr>
          <p:grpSp>
            <p:nvGrpSpPr>
              <p:cNvPr id="762" name="Google Shape;762;p40"/>
              <p:cNvGrpSpPr/>
              <p:nvPr/>
            </p:nvGrpSpPr>
            <p:grpSpPr>
              <a:xfrm>
                <a:off x="-145370" y="0"/>
                <a:ext cx="3374396" cy="7048698"/>
                <a:chOff x="-145370" y="0"/>
                <a:chExt cx="3374396" cy="7048698"/>
              </a:xfrm>
            </p:grpSpPr>
            <p:grpSp>
              <p:nvGrpSpPr>
                <p:cNvPr id="763" name="Google Shape;763;p40"/>
                <p:cNvGrpSpPr/>
                <p:nvPr/>
              </p:nvGrpSpPr>
              <p:grpSpPr>
                <a:xfrm>
                  <a:off x="-145370" y="190698"/>
                  <a:ext cx="3374396" cy="6858000"/>
                  <a:chOff x="4791660" y="190698"/>
                  <a:chExt cx="3374396" cy="6858000"/>
                </a:xfrm>
              </p:grpSpPr>
              <p:sp>
                <p:nvSpPr>
                  <p:cNvPr id="764" name="Google Shape;764;p40"/>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765" name="Google Shape;765;p40"/>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766" name="Google Shape;766;p40"/>
                  <p:cNvGrpSpPr/>
                  <p:nvPr/>
                </p:nvGrpSpPr>
                <p:grpSpPr>
                  <a:xfrm>
                    <a:off x="4795354" y="2086871"/>
                    <a:ext cx="3205536" cy="523200"/>
                    <a:chOff x="4798571" y="2086871"/>
                    <a:chExt cx="3205536" cy="523200"/>
                  </a:xfrm>
                </p:grpSpPr>
                <p:sp>
                  <p:nvSpPr>
                    <p:cNvPr id="767" name="Google Shape;767;p40"/>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768" name="Google Shape;768;p40"/>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769" name="Google Shape;769;p40"/>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770" name="Google Shape;770;p40"/>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771" name="Google Shape;771;p40"/>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772" name="Google Shape;772;p40"/>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773" name="Google Shape;773;p40"/>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774" name="Google Shape;774;p40"/>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775" name="Google Shape;775;p40"/>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776" name="Google Shape;776;p40"/>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777" name="Google Shape;777;p40"/>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778" name="Google Shape;778;p40"/>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779" name="Google Shape;779;p40"/>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780" name="Google Shape;780;p40"/>
          <p:cNvSpPr txBox="1"/>
          <p:nvPr/>
        </p:nvSpPr>
        <p:spPr>
          <a:xfrm>
            <a:off x="2595191" y="961901"/>
            <a:ext cx="6444900" cy="5310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3F3F3F"/>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endParaRPr b="0" i="0" sz="1100" u="none" cap="none" strike="noStrike">
              <a:solidFill>
                <a:srgbClr val="000000"/>
              </a:solidFill>
              <a:latin typeface="Arial"/>
              <a:ea typeface="Arial"/>
              <a:cs typeface="Arial"/>
              <a:sym typeface="Arial"/>
            </a:endParaRPr>
          </a:p>
        </p:txBody>
      </p:sp>
      <p:sp>
        <p:nvSpPr>
          <p:cNvPr id="781" name="Google Shape;781;p40">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782" name="Google Shape;782;p40"/>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783" name="Google Shape;783;p40"/>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784" name="Google Shape;784;p40"/>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785" name="Google Shape;785;p40"/>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786" name="Google Shape;786;p40"/>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787" name="Google Shape;787;p40"/>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788" name="Google Shape;788;p40"/>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789" name="Google Shape;789;p40"/>
          <p:cNvSpPr/>
          <p:nvPr/>
        </p:nvSpPr>
        <p:spPr>
          <a:xfrm>
            <a:off x="1288" y="2812825"/>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790" name="Google Shape;790;p40"/>
          <p:cNvGrpSpPr/>
          <p:nvPr/>
        </p:nvGrpSpPr>
        <p:grpSpPr>
          <a:xfrm>
            <a:off x="8569469" y="4612769"/>
            <a:ext cx="605159" cy="530965"/>
            <a:chOff x="6229560" y="3783450"/>
            <a:chExt cx="841200" cy="841200"/>
          </a:xfrm>
        </p:grpSpPr>
        <p:sp>
          <p:nvSpPr>
            <p:cNvPr id="791" name="Google Shape;791;p40"/>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792" name="Google Shape;792;p40"/>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16</a:t>
              </a:r>
              <a:endParaRPr b="0" i="0" sz="1400" u="none" cap="none" strike="noStrike">
                <a:solidFill>
                  <a:schemeClr val="lt1"/>
                </a:solidFill>
                <a:latin typeface="Oswald"/>
                <a:ea typeface="Oswald"/>
                <a:cs typeface="Oswald"/>
                <a:sym typeface="Oswald"/>
              </a:endParaRPr>
            </a:p>
          </p:txBody>
        </p:sp>
      </p:grpSp>
      <p:sp>
        <p:nvSpPr>
          <p:cNvPr id="793" name="Google Shape;793;p40"/>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794" name="Google Shape;794;p40"/>
          <p:cNvSpPr txBox="1"/>
          <p:nvPr/>
        </p:nvSpPr>
        <p:spPr>
          <a:xfrm>
            <a:off x="61650" y="2816150"/>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795" name="Google Shape;795;p40"/>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796" name="Google Shape;796;p40"/>
          <p:cNvSpPr txBox="1"/>
          <p:nvPr/>
        </p:nvSpPr>
        <p:spPr>
          <a:xfrm>
            <a:off x="3538200" y="4353575"/>
            <a:ext cx="560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dk1"/>
                </a:solidFill>
                <a:latin typeface="Georgia"/>
                <a:ea typeface="Georgia"/>
                <a:cs typeface="Georgia"/>
                <a:sym typeface="Georgia"/>
              </a:rPr>
              <a:t> le nombre optimal de clusters est de 3</a:t>
            </a:r>
            <a:r>
              <a:rPr lang="fr">
                <a:solidFill>
                  <a:schemeClr val="dk1"/>
                </a:solidFill>
                <a:latin typeface="Georgia"/>
                <a:ea typeface="Georgia"/>
                <a:cs typeface="Georgia"/>
                <a:sym typeface="Georgia"/>
              </a:rPr>
              <a:t>.</a:t>
            </a:r>
            <a:endParaRPr/>
          </a:p>
        </p:txBody>
      </p:sp>
      <p:sp>
        <p:nvSpPr>
          <p:cNvPr id="797" name="Google Shape;797;p40"/>
          <p:cNvSpPr txBox="1"/>
          <p:nvPr/>
        </p:nvSpPr>
        <p:spPr>
          <a:xfrm>
            <a:off x="2473275" y="-102675"/>
            <a:ext cx="355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lt1"/>
              </a:solidFill>
            </a:endParaRPr>
          </a:p>
        </p:txBody>
      </p:sp>
      <p:sp>
        <p:nvSpPr>
          <p:cNvPr id="798" name="Google Shape;798;p40"/>
          <p:cNvSpPr txBox="1"/>
          <p:nvPr/>
        </p:nvSpPr>
        <p:spPr>
          <a:xfrm>
            <a:off x="2400700" y="-102675"/>
            <a:ext cx="670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1"/>
                </a:solidFill>
              </a:rPr>
              <a:t>Identification du nombre de cluster</a:t>
            </a:r>
            <a:endParaRPr>
              <a:solidFill>
                <a:schemeClr val="lt1"/>
              </a:solidFill>
            </a:endParaRPr>
          </a:p>
        </p:txBody>
      </p:sp>
      <p:pic>
        <p:nvPicPr>
          <p:cNvPr id="799" name="Google Shape;799;p40"/>
          <p:cNvPicPr preferRelativeResize="0"/>
          <p:nvPr/>
        </p:nvPicPr>
        <p:blipFill>
          <a:blip r:embed="rId5">
            <a:alphaModFix/>
          </a:blip>
          <a:stretch>
            <a:fillRect/>
          </a:stretch>
        </p:blipFill>
        <p:spPr>
          <a:xfrm>
            <a:off x="3063375" y="766750"/>
            <a:ext cx="5201975" cy="35144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789"/>
                                        </p:tgtEl>
                                        <p:attrNameLst>
                                          <p:attrName>style.visibility</p:attrName>
                                        </p:attrNameLst>
                                      </p:cBhvr>
                                      <p:to>
                                        <p:strVal val="visible"/>
                                      </p:to>
                                    </p:set>
                                    <p:anim calcmode="lin" valueType="num">
                                      <p:cBhvr additive="base">
                                        <p:cTn dur="3200"/>
                                        <p:tgtEl>
                                          <p:spTgt spid="78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41"/>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806" name="Google Shape;806;p41"/>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807" name="Google Shape;807;p41"/>
          <p:cNvGrpSpPr/>
          <p:nvPr/>
        </p:nvGrpSpPr>
        <p:grpSpPr>
          <a:xfrm>
            <a:off x="8478" y="-16428"/>
            <a:ext cx="2530797" cy="5286523"/>
            <a:chOff x="-145370" y="0"/>
            <a:chExt cx="3374396" cy="7048698"/>
          </a:xfrm>
        </p:grpSpPr>
        <p:grpSp>
          <p:nvGrpSpPr>
            <p:cNvPr id="808" name="Google Shape;808;p41"/>
            <p:cNvGrpSpPr/>
            <p:nvPr/>
          </p:nvGrpSpPr>
          <p:grpSpPr>
            <a:xfrm>
              <a:off x="-145370" y="0"/>
              <a:ext cx="3374396" cy="7048698"/>
              <a:chOff x="-145370" y="0"/>
              <a:chExt cx="3374396" cy="7048698"/>
            </a:xfrm>
          </p:grpSpPr>
          <p:grpSp>
            <p:nvGrpSpPr>
              <p:cNvPr id="809" name="Google Shape;809;p41"/>
              <p:cNvGrpSpPr/>
              <p:nvPr/>
            </p:nvGrpSpPr>
            <p:grpSpPr>
              <a:xfrm>
                <a:off x="-145370" y="0"/>
                <a:ext cx="3374396" cy="7048698"/>
                <a:chOff x="-145370" y="0"/>
                <a:chExt cx="3374396" cy="7048698"/>
              </a:xfrm>
            </p:grpSpPr>
            <p:grpSp>
              <p:nvGrpSpPr>
                <p:cNvPr id="810" name="Google Shape;810;p41"/>
                <p:cNvGrpSpPr/>
                <p:nvPr/>
              </p:nvGrpSpPr>
              <p:grpSpPr>
                <a:xfrm>
                  <a:off x="-145370" y="190698"/>
                  <a:ext cx="3374396" cy="6858000"/>
                  <a:chOff x="4791660" y="190698"/>
                  <a:chExt cx="3374396" cy="6858000"/>
                </a:xfrm>
              </p:grpSpPr>
              <p:sp>
                <p:nvSpPr>
                  <p:cNvPr id="811" name="Google Shape;811;p41"/>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812" name="Google Shape;812;p41"/>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813" name="Google Shape;813;p41"/>
                  <p:cNvGrpSpPr/>
                  <p:nvPr/>
                </p:nvGrpSpPr>
                <p:grpSpPr>
                  <a:xfrm>
                    <a:off x="4795354" y="2086871"/>
                    <a:ext cx="3205536" cy="523200"/>
                    <a:chOff x="4798571" y="2086871"/>
                    <a:chExt cx="3205536" cy="523200"/>
                  </a:xfrm>
                </p:grpSpPr>
                <p:sp>
                  <p:nvSpPr>
                    <p:cNvPr id="814" name="Google Shape;814;p41"/>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815" name="Google Shape;815;p41"/>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816" name="Google Shape;816;p41"/>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817" name="Google Shape;817;p41"/>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818" name="Google Shape;818;p41"/>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819" name="Google Shape;819;p41"/>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820" name="Google Shape;820;p41"/>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821" name="Google Shape;821;p41"/>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822" name="Google Shape;822;p41"/>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823" name="Google Shape;823;p41"/>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824" name="Google Shape;824;p41"/>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825" name="Google Shape;825;p41"/>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826" name="Google Shape;826;p41"/>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827" name="Google Shape;827;p41">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828" name="Google Shape;828;p41"/>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829" name="Google Shape;829;p41"/>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830" name="Google Shape;830;p41"/>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831" name="Google Shape;831;p41"/>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832" name="Google Shape;832;p41"/>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833" name="Google Shape;833;p41"/>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834" name="Google Shape;834;p41"/>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835" name="Google Shape;835;p41"/>
          <p:cNvSpPr/>
          <p:nvPr/>
        </p:nvSpPr>
        <p:spPr>
          <a:xfrm>
            <a:off x="11238" y="2820038"/>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836" name="Google Shape;836;p41"/>
          <p:cNvGrpSpPr/>
          <p:nvPr/>
        </p:nvGrpSpPr>
        <p:grpSpPr>
          <a:xfrm>
            <a:off x="8569469" y="4612769"/>
            <a:ext cx="605159" cy="530965"/>
            <a:chOff x="6229560" y="3783450"/>
            <a:chExt cx="841200" cy="841200"/>
          </a:xfrm>
        </p:grpSpPr>
        <p:sp>
          <p:nvSpPr>
            <p:cNvPr id="837" name="Google Shape;837;p41"/>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838" name="Google Shape;838;p41"/>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17</a:t>
              </a:r>
              <a:endParaRPr b="0" i="0" sz="1400" u="none" cap="none" strike="noStrike">
                <a:solidFill>
                  <a:schemeClr val="lt1"/>
                </a:solidFill>
                <a:latin typeface="Oswald"/>
                <a:ea typeface="Oswald"/>
                <a:cs typeface="Oswald"/>
                <a:sym typeface="Oswald"/>
              </a:endParaRPr>
            </a:p>
          </p:txBody>
        </p:sp>
      </p:grpSp>
      <p:sp>
        <p:nvSpPr>
          <p:cNvPr id="839" name="Google Shape;839;p41"/>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840" name="Google Shape;840;p41"/>
          <p:cNvSpPr txBox="1"/>
          <p:nvPr/>
        </p:nvSpPr>
        <p:spPr>
          <a:xfrm>
            <a:off x="61650" y="2812825"/>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841" name="Google Shape;841;p41"/>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842" name="Google Shape;842;p41"/>
          <p:cNvSpPr txBox="1"/>
          <p:nvPr/>
        </p:nvSpPr>
        <p:spPr>
          <a:xfrm>
            <a:off x="2658100" y="4451675"/>
            <a:ext cx="560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dk1"/>
                </a:solidFill>
                <a:latin typeface="Georgia"/>
                <a:ea typeface="Georgia"/>
                <a:cs typeface="Georgia"/>
                <a:sym typeface="Georgia"/>
              </a:rPr>
              <a:t>Les variables “length” , “margin_low”, “diagonal” et “height_left” ont un impact significatif sur la distinction des clusters</a:t>
            </a:r>
            <a:r>
              <a:rPr lang="fr">
                <a:solidFill>
                  <a:schemeClr val="dk1"/>
                </a:solidFill>
                <a:latin typeface="Georgia"/>
                <a:ea typeface="Georgia"/>
                <a:cs typeface="Georgia"/>
                <a:sym typeface="Georgia"/>
              </a:rPr>
              <a:t>.</a:t>
            </a:r>
            <a:endParaRPr/>
          </a:p>
        </p:txBody>
      </p:sp>
      <p:sp>
        <p:nvSpPr>
          <p:cNvPr id="843" name="Google Shape;843;p41"/>
          <p:cNvSpPr txBox="1"/>
          <p:nvPr/>
        </p:nvSpPr>
        <p:spPr>
          <a:xfrm>
            <a:off x="2473275" y="-102675"/>
            <a:ext cx="620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lt1"/>
              </a:solidFill>
            </a:endParaRPr>
          </a:p>
        </p:txBody>
      </p:sp>
      <p:pic>
        <p:nvPicPr>
          <p:cNvPr id="844" name="Google Shape;844;p41"/>
          <p:cNvPicPr preferRelativeResize="0"/>
          <p:nvPr/>
        </p:nvPicPr>
        <p:blipFill>
          <a:blip r:embed="rId5">
            <a:alphaModFix/>
          </a:blip>
          <a:stretch>
            <a:fillRect/>
          </a:stretch>
        </p:blipFill>
        <p:spPr>
          <a:xfrm>
            <a:off x="2539275" y="212775"/>
            <a:ext cx="6495525" cy="41745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42"/>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851" name="Google Shape;851;p42"/>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852" name="Google Shape;852;p42"/>
          <p:cNvGrpSpPr/>
          <p:nvPr/>
        </p:nvGrpSpPr>
        <p:grpSpPr>
          <a:xfrm>
            <a:off x="8478" y="-16428"/>
            <a:ext cx="2530797" cy="5286523"/>
            <a:chOff x="-145370" y="0"/>
            <a:chExt cx="3374396" cy="7048698"/>
          </a:xfrm>
        </p:grpSpPr>
        <p:grpSp>
          <p:nvGrpSpPr>
            <p:cNvPr id="853" name="Google Shape;853;p42"/>
            <p:cNvGrpSpPr/>
            <p:nvPr/>
          </p:nvGrpSpPr>
          <p:grpSpPr>
            <a:xfrm>
              <a:off x="-145370" y="0"/>
              <a:ext cx="3374396" cy="7048698"/>
              <a:chOff x="-145370" y="0"/>
              <a:chExt cx="3374396" cy="7048698"/>
            </a:xfrm>
          </p:grpSpPr>
          <p:grpSp>
            <p:nvGrpSpPr>
              <p:cNvPr id="854" name="Google Shape;854;p42"/>
              <p:cNvGrpSpPr/>
              <p:nvPr/>
            </p:nvGrpSpPr>
            <p:grpSpPr>
              <a:xfrm>
                <a:off x="-145370" y="0"/>
                <a:ext cx="3374396" cy="7048698"/>
                <a:chOff x="-145370" y="0"/>
                <a:chExt cx="3374396" cy="7048698"/>
              </a:xfrm>
            </p:grpSpPr>
            <p:grpSp>
              <p:nvGrpSpPr>
                <p:cNvPr id="855" name="Google Shape;855;p42"/>
                <p:cNvGrpSpPr/>
                <p:nvPr/>
              </p:nvGrpSpPr>
              <p:grpSpPr>
                <a:xfrm>
                  <a:off x="-145370" y="190698"/>
                  <a:ext cx="3374396" cy="6858000"/>
                  <a:chOff x="4791660" y="190698"/>
                  <a:chExt cx="3374396" cy="6858000"/>
                </a:xfrm>
              </p:grpSpPr>
              <p:sp>
                <p:nvSpPr>
                  <p:cNvPr id="856" name="Google Shape;856;p42"/>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857" name="Google Shape;857;p42"/>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858" name="Google Shape;858;p42"/>
                  <p:cNvGrpSpPr/>
                  <p:nvPr/>
                </p:nvGrpSpPr>
                <p:grpSpPr>
                  <a:xfrm>
                    <a:off x="4795354" y="2086871"/>
                    <a:ext cx="3205536" cy="523200"/>
                    <a:chOff x="4798571" y="2086871"/>
                    <a:chExt cx="3205536" cy="523200"/>
                  </a:xfrm>
                </p:grpSpPr>
                <p:sp>
                  <p:nvSpPr>
                    <p:cNvPr id="859" name="Google Shape;859;p42"/>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860" name="Google Shape;860;p42"/>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861" name="Google Shape;861;p42"/>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862" name="Google Shape;862;p42"/>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863" name="Google Shape;863;p42"/>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864" name="Google Shape;864;p42"/>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865" name="Google Shape;865;p42"/>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866" name="Google Shape;866;p42"/>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867" name="Google Shape;867;p42"/>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868" name="Google Shape;868;p42"/>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869" name="Google Shape;869;p42"/>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870" name="Google Shape;870;p42"/>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871" name="Google Shape;871;p42"/>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872" name="Google Shape;872;p42">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873" name="Google Shape;873;p42"/>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874" name="Google Shape;874;p42"/>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875" name="Google Shape;875;p42"/>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876" name="Google Shape;876;p42"/>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877" name="Google Shape;877;p42"/>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878" name="Google Shape;878;p42"/>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879" name="Google Shape;879;p42"/>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880" name="Google Shape;880;p42"/>
          <p:cNvSpPr/>
          <p:nvPr/>
        </p:nvSpPr>
        <p:spPr>
          <a:xfrm>
            <a:off x="11238" y="2820038"/>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881" name="Google Shape;881;p42"/>
          <p:cNvGrpSpPr/>
          <p:nvPr/>
        </p:nvGrpSpPr>
        <p:grpSpPr>
          <a:xfrm>
            <a:off x="8569469" y="4612769"/>
            <a:ext cx="605159" cy="530965"/>
            <a:chOff x="6229560" y="3783450"/>
            <a:chExt cx="841200" cy="841200"/>
          </a:xfrm>
        </p:grpSpPr>
        <p:sp>
          <p:nvSpPr>
            <p:cNvPr id="882" name="Google Shape;882;p42"/>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883" name="Google Shape;883;p42"/>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18</a:t>
              </a:r>
              <a:endParaRPr b="0" i="0" sz="1400" u="none" cap="none" strike="noStrike">
                <a:solidFill>
                  <a:schemeClr val="lt1"/>
                </a:solidFill>
                <a:latin typeface="Oswald"/>
                <a:ea typeface="Oswald"/>
                <a:cs typeface="Oswald"/>
                <a:sym typeface="Oswald"/>
              </a:endParaRPr>
            </a:p>
          </p:txBody>
        </p:sp>
      </p:grpSp>
      <p:sp>
        <p:nvSpPr>
          <p:cNvPr id="884" name="Google Shape;884;p42"/>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885" name="Google Shape;885;p42"/>
          <p:cNvSpPr txBox="1"/>
          <p:nvPr/>
        </p:nvSpPr>
        <p:spPr>
          <a:xfrm>
            <a:off x="61650" y="2812825"/>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886" name="Google Shape;886;p42"/>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887" name="Google Shape;887;p42"/>
          <p:cNvSpPr txBox="1"/>
          <p:nvPr/>
        </p:nvSpPr>
        <p:spPr>
          <a:xfrm>
            <a:off x="2776950" y="4430700"/>
            <a:ext cx="560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dk1"/>
                </a:solidFill>
                <a:latin typeface="Georgia"/>
                <a:ea typeface="Georgia"/>
                <a:cs typeface="Georgia"/>
                <a:sym typeface="Georgia"/>
              </a:rPr>
              <a:t>L’algorithme kmeans a bien classé les billets</a:t>
            </a:r>
            <a:r>
              <a:rPr lang="fr">
                <a:solidFill>
                  <a:schemeClr val="dk1"/>
                </a:solidFill>
                <a:latin typeface="Georgia"/>
                <a:ea typeface="Georgia"/>
                <a:cs typeface="Georgia"/>
                <a:sym typeface="Georgia"/>
              </a:rPr>
              <a:t>.</a:t>
            </a:r>
            <a:endParaRPr/>
          </a:p>
        </p:txBody>
      </p:sp>
      <p:sp>
        <p:nvSpPr>
          <p:cNvPr id="888" name="Google Shape;888;p42"/>
          <p:cNvSpPr txBox="1"/>
          <p:nvPr/>
        </p:nvSpPr>
        <p:spPr>
          <a:xfrm>
            <a:off x="2473275" y="-102675"/>
            <a:ext cx="620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solidFill>
                  <a:schemeClr val="lt1"/>
                </a:solidFill>
              </a:rPr>
              <a:t>Représentation des individus par le premier plan factoriel</a:t>
            </a:r>
            <a:endParaRPr>
              <a:solidFill>
                <a:schemeClr val="lt1"/>
              </a:solidFill>
            </a:endParaRPr>
          </a:p>
        </p:txBody>
      </p:sp>
      <p:pic>
        <p:nvPicPr>
          <p:cNvPr id="889" name="Google Shape;889;p42"/>
          <p:cNvPicPr preferRelativeResize="0"/>
          <p:nvPr/>
        </p:nvPicPr>
        <p:blipFill>
          <a:blip r:embed="rId5">
            <a:alphaModFix/>
          </a:blip>
          <a:stretch>
            <a:fillRect/>
          </a:stretch>
        </p:blipFill>
        <p:spPr>
          <a:xfrm>
            <a:off x="3160600" y="694425"/>
            <a:ext cx="4754800" cy="34985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43"/>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896" name="Google Shape;896;p43"/>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897" name="Google Shape;897;p43"/>
          <p:cNvGrpSpPr/>
          <p:nvPr/>
        </p:nvGrpSpPr>
        <p:grpSpPr>
          <a:xfrm>
            <a:off x="8478" y="-16428"/>
            <a:ext cx="2530797" cy="5286523"/>
            <a:chOff x="-145370" y="0"/>
            <a:chExt cx="3374396" cy="7048698"/>
          </a:xfrm>
        </p:grpSpPr>
        <p:grpSp>
          <p:nvGrpSpPr>
            <p:cNvPr id="898" name="Google Shape;898;p43"/>
            <p:cNvGrpSpPr/>
            <p:nvPr/>
          </p:nvGrpSpPr>
          <p:grpSpPr>
            <a:xfrm>
              <a:off x="-145370" y="0"/>
              <a:ext cx="3374396" cy="7048698"/>
              <a:chOff x="-145370" y="0"/>
              <a:chExt cx="3374396" cy="7048698"/>
            </a:xfrm>
          </p:grpSpPr>
          <p:grpSp>
            <p:nvGrpSpPr>
              <p:cNvPr id="899" name="Google Shape;899;p43"/>
              <p:cNvGrpSpPr/>
              <p:nvPr/>
            </p:nvGrpSpPr>
            <p:grpSpPr>
              <a:xfrm>
                <a:off x="-145370" y="0"/>
                <a:ext cx="3374396" cy="7048698"/>
                <a:chOff x="-145370" y="0"/>
                <a:chExt cx="3374396" cy="7048698"/>
              </a:xfrm>
            </p:grpSpPr>
            <p:grpSp>
              <p:nvGrpSpPr>
                <p:cNvPr id="900" name="Google Shape;900;p43"/>
                <p:cNvGrpSpPr/>
                <p:nvPr/>
              </p:nvGrpSpPr>
              <p:grpSpPr>
                <a:xfrm>
                  <a:off x="-145370" y="190698"/>
                  <a:ext cx="3374396" cy="6858000"/>
                  <a:chOff x="4791660" y="190698"/>
                  <a:chExt cx="3374396" cy="6858000"/>
                </a:xfrm>
              </p:grpSpPr>
              <p:sp>
                <p:nvSpPr>
                  <p:cNvPr id="901" name="Google Shape;901;p43"/>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902" name="Google Shape;902;p43"/>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903" name="Google Shape;903;p43"/>
                  <p:cNvGrpSpPr/>
                  <p:nvPr/>
                </p:nvGrpSpPr>
                <p:grpSpPr>
                  <a:xfrm>
                    <a:off x="4795354" y="2086871"/>
                    <a:ext cx="3205536" cy="523200"/>
                    <a:chOff x="4798571" y="2086871"/>
                    <a:chExt cx="3205536" cy="523200"/>
                  </a:xfrm>
                </p:grpSpPr>
                <p:sp>
                  <p:nvSpPr>
                    <p:cNvPr id="904" name="Google Shape;904;p43"/>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905" name="Google Shape;905;p43"/>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906" name="Google Shape;906;p43"/>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907" name="Google Shape;907;p43"/>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908" name="Google Shape;908;p43"/>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909" name="Google Shape;909;p43"/>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910" name="Google Shape;910;p43"/>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911" name="Google Shape;911;p43"/>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912" name="Google Shape;912;p43"/>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913" name="Google Shape;913;p43"/>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914" name="Google Shape;914;p43"/>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915" name="Google Shape;915;p43"/>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916" name="Google Shape;916;p43"/>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917" name="Google Shape;917;p43">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918" name="Google Shape;918;p43"/>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919" name="Google Shape;919;p43"/>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920" name="Google Shape;920;p43"/>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921" name="Google Shape;921;p43"/>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922" name="Google Shape;922;p43"/>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923" name="Google Shape;923;p43"/>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924" name="Google Shape;924;p43"/>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925" name="Google Shape;925;p43"/>
          <p:cNvSpPr/>
          <p:nvPr/>
        </p:nvSpPr>
        <p:spPr>
          <a:xfrm>
            <a:off x="11238" y="2820038"/>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926" name="Google Shape;926;p43"/>
          <p:cNvGrpSpPr/>
          <p:nvPr/>
        </p:nvGrpSpPr>
        <p:grpSpPr>
          <a:xfrm>
            <a:off x="8569469" y="4612769"/>
            <a:ext cx="605159" cy="530965"/>
            <a:chOff x="6229560" y="3783450"/>
            <a:chExt cx="841200" cy="841200"/>
          </a:xfrm>
        </p:grpSpPr>
        <p:sp>
          <p:nvSpPr>
            <p:cNvPr id="927" name="Google Shape;927;p43"/>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928" name="Google Shape;928;p43"/>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19</a:t>
              </a:r>
              <a:endParaRPr b="0" i="0" sz="1400" u="none" cap="none" strike="noStrike">
                <a:solidFill>
                  <a:schemeClr val="lt1"/>
                </a:solidFill>
                <a:latin typeface="Oswald"/>
                <a:ea typeface="Oswald"/>
                <a:cs typeface="Oswald"/>
                <a:sym typeface="Oswald"/>
              </a:endParaRPr>
            </a:p>
          </p:txBody>
        </p:sp>
      </p:grpSp>
      <p:sp>
        <p:nvSpPr>
          <p:cNvPr id="929" name="Google Shape;929;p43"/>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930" name="Google Shape;930;p43"/>
          <p:cNvSpPr txBox="1"/>
          <p:nvPr/>
        </p:nvSpPr>
        <p:spPr>
          <a:xfrm>
            <a:off x="61650" y="2812825"/>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931" name="Google Shape;931;p43"/>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932" name="Google Shape;932;p43"/>
          <p:cNvSpPr txBox="1"/>
          <p:nvPr/>
        </p:nvSpPr>
        <p:spPr>
          <a:xfrm>
            <a:off x="2473275" y="-102675"/>
            <a:ext cx="620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solidFill>
                  <a:schemeClr val="lt1"/>
                </a:solidFill>
              </a:rPr>
              <a:t>Division de données</a:t>
            </a:r>
            <a:endParaRPr>
              <a:solidFill>
                <a:schemeClr val="lt1"/>
              </a:solidFill>
            </a:endParaRPr>
          </a:p>
        </p:txBody>
      </p:sp>
      <p:pic>
        <p:nvPicPr>
          <p:cNvPr id="933" name="Google Shape;933;p43"/>
          <p:cNvPicPr preferRelativeResize="0"/>
          <p:nvPr/>
        </p:nvPicPr>
        <p:blipFill>
          <a:blip r:embed="rId5">
            <a:alphaModFix/>
          </a:blip>
          <a:stretch>
            <a:fillRect/>
          </a:stretch>
        </p:blipFill>
        <p:spPr>
          <a:xfrm>
            <a:off x="2438425" y="1258175"/>
            <a:ext cx="6577999" cy="2790825"/>
          </a:xfrm>
          <a:prstGeom prst="rect">
            <a:avLst/>
          </a:prstGeom>
          <a:noFill/>
          <a:ln>
            <a:noFill/>
          </a:ln>
        </p:spPr>
      </p:pic>
      <p:sp>
        <p:nvSpPr>
          <p:cNvPr id="934" name="Google Shape;934;p43"/>
          <p:cNvSpPr txBox="1"/>
          <p:nvPr/>
        </p:nvSpPr>
        <p:spPr>
          <a:xfrm>
            <a:off x="2537725" y="4220775"/>
            <a:ext cx="5775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80% des données pour </a:t>
            </a:r>
            <a:r>
              <a:rPr lang="fr"/>
              <a:t>entraîner</a:t>
            </a:r>
            <a:r>
              <a:rPr lang="fr"/>
              <a:t> le modèle et le reste pour évaluer la </a:t>
            </a:r>
            <a:r>
              <a:rPr lang="fr"/>
              <a:t>performance</a:t>
            </a:r>
            <a:r>
              <a:rPr lang="fr"/>
              <a:t> de ce modèle.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44"/>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941" name="Google Shape;941;p44"/>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942" name="Google Shape;942;p44"/>
          <p:cNvGrpSpPr/>
          <p:nvPr/>
        </p:nvGrpSpPr>
        <p:grpSpPr>
          <a:xfrm>
            <a:off x="8478" y="-16428"/>
            <a:ext cx="2530797" cy="5286523"/>
            <a:chOff x="-145370" y="0"/>
            <a:chExt cx="3374396" cy="7048698"/>
          </a:xfrm>
        </p:grpSpPr>
        <p:grpSp>
          <p:nvGrpSpPr>
            <p:cNvPr id="943" name="Google Shape;943;p44"/>
            <p:cNvGrpSpPr/>
            <p:nvPr/>
          </p:nvGrpSpPr>
          <p:grpSpPr>
            <a:xfrm>
              <a:off x="-145370" y="0"/>
              <a:ext cx="3374396" cy="7048698"/>
              <a:chOff x="-145370" y="0"/>
              <a:chExt cx="3374396" cy="7048698"/>
            </a:xfrm>
          </p:grpSpPr>
          <p:grpSp>
            <p:nvGrpSpPr>
              <p:cNvPr id="944" name="Google Shape;944;p44"/>
              <p:cNvGrpSpPr/>
              <p:nvPr/>
            </p:nvGrpSpPr>
            <p:grpSpPr>
              <a:xfrm>
                <a:off x="-145370" y="0"/>
                <a:ext cx="3374396" cy="7048698"/>
                <a:chOff x="-145370" y="0"/>
                <a:chExt cx="3374396" cy="7048698"/>
              </a:xfrm>
            </p:grpSpPr>
            <p:grpSp>
              <p:nvGrpSpPr>
                <p:cNvPr id="945" name="Google Shape;945;p44"/>
                <p:cNvGrpSpPr/>
                <p:nvPr/>
              </p:nvGrpSpPr>
              <p:grpSpPr>
                <a:xfrm>
                  <a:off x="-145370" y="190698"/>
                  <a:ext cx="3374396" cy="6858000"/>
                  <a:chOff x="4791660" y="190698"/>
                  <a:chExt cx="3374396" cy="6858000"/>
                </a:xfrm>
              </p:grpSpPr>
              <p:sp>
                <p:nvSpPr>
                  <p:cNvPr id="946" name="Google Shape;946;p44"/>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947" name="Google Shape;947;p44"/>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948" name="Google Shape;948;p44"/>
                  <p:cNvGrpSpPr/>
                  <p:nvPr/>
                </p:nvGrpSpPr>
                <p:grpSpPr>
                  <a:xfrm>
                    <a:off x="4795354" y="2086871"/>
                    <a:ext cx="3205536" cy="523200"/>
                    <a:chOff x="4798571" y="2086871"/>
                    <a:chExt cx="3205536" cy="523200"/>
                  </a:xfrm>
                </p:grpSpPr>
                <p:sp>
                  <p:nvSpPr>
                    <p:cNvPr id="949" name="Google Shape;949;p44"/>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950" name="Google Shape;950;p44"/>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951" name="Google Shape;951;p44"/>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952" name="Google Shape;952;p44"/>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953" name="Google Shape;953;p44"/>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954" name="Google Shape;954;p44"/>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955" name="Google Shape;955;p44"/>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956" name="Google Shape;956;p44"/>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957" name="Google Shape;957;p44"/>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958" name="Google Shape;958;p44"/>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959" name="Google Shape;959;p44"/>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960" name="Google Shape;960;p44"/>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961" name="Google Shape;961;p44"/>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962" name="Google Shape;962;p44">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963" name="Google Shape;963;p44"/>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964" name="Google Shape;964;p44"/>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965" name="Google Shape;965;p44"/>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966" name="Google Shape;966;p44"/>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967" name="Google Shape;967;p44"/>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968" name="Google Shape;968;p44"/>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969" name="Google Shape;969;p44"/>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970" name="Google Shape;970;p44"/>
          <p:cNvSpPr/>
          <p:nvPr/>
        </p:nvSpPr>
        <p:spPr>
          <a:xfrm>
            <a:off x="11238" y="2820038"/>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971" name="Google Shape;971;p44"/>
          <p:cNvGrpSpPr/>
          <p:nvPr/>
        </p:nvGrpSpPr>
        <p:grpSpPr>
          <a:xfrm>
            <a:off x="8569469" y="4612769"/>
            <a:ext cx="605159" cy="530965"/>
            <a:chOff x="6229560" y="3783450"/>
            <a:chExt cx="841200" cy="841200"/>
          </a:xfrm>
        </p:grpSpPr>
        <p:sp>
          <p:nvSpPr>
            <p:cNvPr id="972" name="Google Shape;972;p44"/>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973" name="Google Shape;973;p44"/>
            <p:cNvSpPr txBox="1"/>
            <p:nvPr/>
          </p:nvSpPr>
          <p:spPr>
            <a:xfrm>
              <a:off x="6485686" y="3973216"/>
              <a:ext cx="585000" cy="10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20</a:t>
              </a:r>
              <a:endParaRPr b="0" i="0" sz="1400" u="none" cap="none" strike="noStrike">
                <a:solidFill>
                  <a:schemeClr val="lt1"/>
                </a:solidFill>
                <a:latin typeface="Oswald"/>
                <a:ea typeface="Oswald"/>
                <a:cs typeface="Oswald"/>
                <a:sym typeface="Oswald"/>
              </a:endParaRPr>
            </a:p>
          </p:txBody>
        </p:sp>
      </p:grpSp>
      <p:sp>
        <p:nvSpPr>
          <p:cNvPr id="974" name="Google Shape;974;p44"/>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975" name="Google Shape;975;p44"/>
          <p:cNvSpPr txBox="1"/>
          <p:nvPr/>
        </p:nvSpPr>
        <p:spPr>
          <a:xfrm>
            <a:off x="61650" y="2812825"/>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976" name="Google Shape;976;p44"/>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977" name="Google Shape;977;p44"/>
          <p:cNvSpPr txBox="1"/>
          <p:nvPr/>
        </p:nvSpPr>
        <p:spPr>
          <a:xfrm>
            <a:off x="2473275" y="-125050"/>
            <a:ext cx="620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solidFill>
                  <a:schemeClr val="lt1"/>
                </a:solidFill>
              </a:rPr>
              <a:t>Evaluation de la p</a:t>
            </a:r>
            <a:r>
              <a:rPr lang="fr">
                <a:solidFill>
                  <a:schemeClr val="lt1"/>
                </a:solidFill>
              </a:rPr>
              <a:t>erformance</a:t>
            </a:r>
            <a:r>
              <a:rPr lang="fr">
                <a:solidFill>
                  <a:schemeClr val="lt1"/>
                </a:solidFill>
              </a:rPr>
              <a:t> du modèle</a:t>
            </a:r>
            <a:endParaRPr>
              <a:solidFill>
                <a:schemeClr val="lt1"/>
              </a:solidFill>
            </a:endParaRPr>
          </a:p>
        </p:txBody>
      </p:sp>
      <p:pic>
        <p:nvPicPr>
          <p:cNvPr id="978" name="Google Shape;978;p44"/>
          <p:cNvPicPr preferRelativeResize="0"/>
          <p:nvPr/>
        </p:nvPicPr>
        <p:blipFill>
          <a:blip r:embed="rId5">
            <a:alphaModFix/>
          </a:blip>
          <a:stretch>
            <a:fillRect/>
          </a:stretch>
        </p:blipFill>
        <p:spPr>
          <a:xfrm>
            <a:off x="2586325" y="2704300"/>
            <a:ext cx="3638550" cy="361950"/>
          </a:xfrm>
          <a:prstGeom prst="rect">
            <a:avLst/>
          </a:prstGeom>
          <a:noFill/>
          <a:ln>
            <a:noFill/>
          </a:ln>
        </p:spPr>
      </p:pic>
      <p:pic>
        <p:nvPicPr>
          <p:cNvPr id="979" name="Google Shape;979;p44"/>
          <p:cNvPicPr preferRelativeResize="0"/>
          <p:nvPr/>
        </p:nvPicPr>
        <p:blipFill>
          <a:blip r:embed="rId6">
            <a:alphaModFix/>
          </a:blip>
          <a:stretch>
            <a:fillRect/>
          </a:stretch>
        </p:blipFill>
        <p:spPr>
          <a:xfrm>
            <a:off x="2813175" y="1461638"/>
            <a:ext cx="2781300" cy="923925"/>
          </a:xfrm>
          <a:prstGeom prst="rect">
            <a:avLst/>
          </a:prstGeom>
          <a:noFill/>
          <a:ln>
            <a:noFill/>
          </a:ln>
        </p:spPr>
      </p:pic>
      <p:pic>
        <p:nvPicPr>
          <p:cNvPr id="980" name="Google Shape;980;p44"/>
          <p:cNvPicPr preferRelativeResize="0"/>
          <p:nvPr/>
        </p:nvPicPr>
        <p:blipFill>
          <a:blip r:embed="rId7">
            <a:alphaModFix/>
          </a:blip>
          <a:stretch>
            <a:fillRect/>
          </a:stretch>
        </p:blipFill>
        <p:spPr>
          <a:xfrm>
            <a:off x="2473275" y="3392250"/>
            <a:ext cx="6670726" cy="733425"/>
          </a:xfrm>
          <a:prstGeom prst="rect">
            <a:avLst/>
          </a:prstGeom>
          <a:noFill/>
          <a:ln>
            <a:noFill/>
          </a:ln>
        </p:spPr>
      </p:pic>
      <p:sp>
        <p:nvSpPr>
          <p:cNvPr id="981" name="Google Shape;981;p44"/>
          <p:cNvSpPr txBox="1"/>
          <p:nvPr/>
        </p:nvSpPr>
        <p:spPr>
          <a:xfrm>
            <a:off x="2586325" y="882000"/>
            <a:ext cx="479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t>La matrice de confusion: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45"/>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988" name="Google Shape;988;p45"/>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989" name="Google Shape;989;p45"/>
          <p:cNvGrpSpPr/>
          <p:nvPr/>
        </p:nvGrpSpPr>
        <p:grpSpPr>
          <a:xfrm>
            <a:off x="8478" y="-16428"/>
            <a:ext cx="2530797" cy="5286523"/>
            <a:chOff x="-145370" y="0"/>
            <a:chExt cx="3374396" cy="7048698"/>
          </a:xfrm>
        </p:grpSpPr>
        <p:grpSp>
          <p:nvGrpSpPr>
            <p:cNvPr id="990" name="Google Shape;990;p45"/>
            <p:cNvGrpSpPr/>
            <p:nvPr/>
          </p:nvGrpSpPr>
          <p:grpSpPr>
            <a:xfrm>
              <a:off x="-145370" y="0"/>
              <a:ext cx="3374396" cy="7048698"/>
              <a:chOff x="-145370" y="0"/>
              <a:chExt cx="3374396" cy="7048698"/>
            </a:xfrm>
          </p:grpSpPr>
          <p:grpSp>
            <p:nvGrpSpPr>
              <p:cNvPr id="991" name="Google Shape;991;p45"/>
              <p:cNvGrpSpPr/>
              <p:nvPr/>
            </p:nvGrpSpPr>
            <p:grpSpPr>
              <a:xfrm>
                <a:off x="-145370" y="0"/>
                <a:ext cx="3374396" cy="7048698"/>
                <a:chOff x="-145370" y="0"/>
                <a:chExt cx="3374396" cy="7048698"/>
              </a:xfrm>
            </p:grpSpPr>
            <p:grpSp>
              <p:nvGrpSpPr>
                <p:cNvPr id="992" name="Google Shape;992;p45"/>
                <p:cNvGrpSpPr/>
                <p:nvPr/>
              </p:nvGrpSpPr>
              <p:grpSpPr>
                <a:xfrm>
                  <a:off x="-145370" y="190698"/>
                  <a:ext cx="3374396" cy="6858000"/>
                  <a:chOff x="4791660" y="190698"/>
                  <a:chExt cx="3374396" cy="6858000"/>
                </a:xfrm>
              </p:grpSpPr>
              <p:sp>
                <p:nvSpPr>
                  <p:cNvPr id="993" name="Google Shape;993;p45"/>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994" name="Google Shape;994;p45"/>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995" name="Google Shape;995;p45"/>
                  <p:cNvGrpSpPr/>
                  <p:nvPr/>
                </p:nvGrpSpPr>
                <p:grpSpPr>
                  <a:xfrm>
                    <a:off x="4795354" y="2086871"/>
                    <a:ext cx="3205536" cy="523200"/>
                    <a:chOff x="4798571" y="2086871"/>
                    <a:chExt cx="3205536" cy="523200"/>
                  </a:xfrm>
                </p:grpSpPr>
                <p:sp>
                  <p:nvSpPr>
                    <p:cNvPr id="996" name="Google Shape;996;p45"/>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997" name="Google Shape;997;p45"/>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998" name="Google Shape;998;p45"/>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999" name="Google Shape;999;p45"/>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1000" name="Google Shape;1000;p45"/>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1001" name="Google Shape;1001;p45"/>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1002" name="Google Shape;1002;p45"/>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1003" name="Google Shape;1003;p45"/>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1004" name="Google Shape;1004;p45"/>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1005" name="Google Shape;1005;p45"/>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006" name="Google Shape;1006;p45"/>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007" name="Google Shape;1007;p45"/>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1008" name="Google Shape;1008;p45"/>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1009" name="Google Shape;1009;p45"/>
          <p:cNvSpPr txBox="1"/>
          <p:nvPr/>
        </p:nvSpPr>
        <p:spPr>
          <a:xfrm>
            <a:off x="2595191" y="961901"/>
            <a:ext cx="6444900" cy="5310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3F3F3F"/>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endParaRPr b="0" i="0" sz="1100" u="none" cap="none" strike="noStrike">
              <a:solidFill>
                <a:srgbClr val="000000"/>
              </a:solidFill>
              <a:latin typeface="Arial"/>
              <a:ea typeface="Arial"/>
              <a:cs typeface="Arial"/>
              <a:sym typeface="Arial"/>
            </a:endParaRPr>
          </a:p>
        </p:txBody>
      </p:sp>
      <p:sp>
        <p:nvSpPr>
          <p:cNvPr id="1010" name="Google Shape;1010;p45">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011" name="Google Shape;1011;p45"/>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1012" name="Google Shape;1012;p45"/>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1013" name="Google Shape;1013;p45"/>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1014" name="Google Shape;1014;p45"/>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015" name="Google Shape;1015;p45"/>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1016" name="Google Shape;1016;p45"/>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1017" name="Google Shape;1017;p45"/>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018" name="Google Shape;1018;p45"/>
          <p:cNvSpPr/>
          <p:nvPr/>
        </p:nvSpPr>
        <p:spPr>
          <a:xfrm>
            <a:off x="1288" y="3289125"/>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1019" name="Google Shape;1019;p45"/>
          <p:cNvGrpSpPr/>
          <p:nvPr/>
        </p:nvGrpSpPr>
        <p:grpSpPr>
          <a:xfrm>
            <a:off x="8569469" y="4612769"/>
            <a:ext cx="605159" cy="530965"/>
            <a:chOff x="6229560" y="3783450"/>
            <a:chExt cx="841200" cy="841200"/>
          </a:xfrm>
        </p:grpSpPr>
        <p:sp>
          <p:nvSpPr>
            <p:cNvPr id="1020" name="Google Shape;1020;p45"/>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021" name="Google Shape;1021;p45"/>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21</a:t>
              </a:r>
              <a:endParaRPr b="0" i="0" sz="1400" u="none" cap="none" strike="noStrike">
                <a:solidFill>
                  <a:schemeClr val="lt1"/>
                </a:solidFill>
                <a:latin typeface="Oswald"/>
                <a:ea typeface="Oswald"/>
                <a:cs typeface="Oswald"/>
                <a:sym typeface="Oswald"/>
              </a:endParaRPr>
            </a:p>
          </p:txBody>
        </p:sp>
      </p:grpSp>
      <p:sp>
        <p:nvSpPr>
          <p:cNvPr id="1022" name="Google Shape;1022;p45"/>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023" name="Google Shape;1023;p45"/>
          <p:cNvSpPr txBox="1"/>
          <p:nvPr/>
        </p:nvSpPr>
        <p:spPr>
          <a:xfrm>
            <a:off x="61650" y="2812825"/>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1024" name="Google Shape;1024;p45"/>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1025" name="Google Shape;1025;p45"/>
          <p:cNvSpPr txBox="1"/>
          <p:nvPr/>
        </p:nvSpPr>
        <p:spPr>
          <a:xfrm>
            <a:off x="2473275" y="-102675"/>
            <a:ext cx="355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lt1"/>
              </a:solidFill>
            </a:endParaRPr>
          </a:p>
        </p:txBody>
      </p:sp>
      <p:sp>
        <p:nvSpPr>
          <p:cNvPr id="1026" name="Google Shape;1026;p45"/>
          <p:cNvSpPr txBox="1"/>
          <p:nvPr/>
        </p:nvSpPr>
        <p:spPr>
          <a:xfrm>
            <a:off x="2400700" y="-102675"/>
            <a:ext cx="670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1"/>
                </a:solidFill>
              </a:rPr>
              <a:t>Estimation des</a:t>
            </a:r>
            <a:r>
              <a:rPr lang="fr">
                <a:solidFill>
                  <a:schemeClr val="lt1"/>
                </a:solidFill>
              </a:rPr>
              <a:t> </a:t>
            </a:r>
            <a:r>
              <a:rPr lang="fr">
                <a:solidFill>
                  <a:schemeClr val="lt1"/>
                </a:solidFill>
              </a:rPr>
              <a:t>paramètres</a:t>
            </a:r>
            <a:r>
              <a:rPr lang="fr">
                <a:solidFill>
                  <a:schemeClr val="lt1"/>
                </a:solidFill>
              </a:rPr>
              <a:t> </a:t>
            </a:r>
            <a:endParaRPr>
              <a:solidFill>
                <a:schemeClr val="lt1"/>
              </a:solidFill>
            </a:endParaRPr>
          </a:p>
        </p:txBody>
      </p:sp>
      <p:pic>
        <p:nvPicPr>
          <p:cNvPr id="1027" name="Google Shape;1027;p45"/>
          <p:cNvPicPr preferRelativeResize="0"/>
          <p:nvPr/>
        </p:nvPicPr>
        <p:blipFill>
          <a:blip r:embed="rId5">
            <a:alphaModFix/>
          </a:blip>
          <a:stretch>
            <a:fillRect/>
          </a:stretch>
        </p:blipFill>
        <p:spPr>
          <a:xfrm>
            <a:off x="2446000" y="743325"/>
            <a:ext cx="6743301" cy="3090800"/>
          </a:xfrm>
          <a:prstGeom prst="rect">
            <a:avLst/>
          </a:prstGeom>
          <a:noFill/>
          <a:ln>
            <a:noFill/>
          </a:ln>
        </p:spPr>
      </p:pic>
      <p:sp>
        <p:nvSpPr>
          <p:cNvPr id="1028" name="Google Shape;1028;p45"/>
          <p:cNvSpPr txBox="1"/>
          <p:nvPr/>
        </p:nvSpPr>
        <p:spPr>
          <a:xfrm>
            <a:off x="2400700" y="3915650"/>
            <a:ext cx="659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dk1"/>
                </a:solidFill>
                <a:latin typeface="Georgia"/>
                <a:ea typeface="Georgia"/>
                <a:cs typeface="Georgia"/>
                <a:sym typeface="Georgia"/>
              </a:rPr>
              <a:t>Les variables “length” et “margin_low” sont importantes pour faire la prédiction .</a:t>
            </a:r>
            <a:endParaRPr>
              <a:solidFill>
                <a:schemeClr val="dk1"/>
              </a:solidFill>
              <a:latin typeface="Georgia"/>
              <a:ea typeface="Georgia"/>
              <a:cs typeface="Georgia"/>
              <a:sym typeface="Georgia"/>
            </a:endParaRPr>
          </a:p>
          <a:p>
            <a:pPr indent="0" lvl="0" marL="0" rtl="0" algn="l">
              <a:spcBef>
                <a:spcPts val="0"/>
              </a:spcBef>
              <a:spcAft>
                <a:spcPts val="0"/>
              </a:spcAft>
              <a:buNone/>
            </a:pPr>
            <a:r>
              <a:rPr lang="fr">
                <a:solidFill>
                  <a:schemeClr val="dk1"/>
                </a:solidFill>
                <a:latin typeface="Georgia"/>
                <a:ea typeface="Georgia"/>
                <a:cs typeface="Georgia"/>
                <a:sym typeface="Georgia"/>
              </a:rPr>
              <a:t>L’équation de la régression logistique:</a:t>
            </a:r>
            <a:endParaRPr>
              <a:solidFill>
                <a:schemeClr val="dk1"/>
              </a:solidFill>
              <a:latin typeface="Georgia"/>
              <a:ea typeface="Georgia"/>
              <a:cs typeface="Georgia"/>
              <a:sym typeface="Georgia"/>
            </a:endParaRPr>
          </a:p>
        </p:txBody>
      </p:sp>
      <p:pic>
        <p:nvPicPr>
          <p:cNvPr id="1029" name="Google Shape;1029;p45"/>
          <p:cNvPicPr preferRelativeResize="0"/>
          <p:nvPr/>
        </p:nvPicPr>
        <p:blipFill>
          <a:blip r:embed="rId6">
            <a:alphaModFix/>
          </a:blip>
          <a:stretch>
            <a:fillRect/>
          </a:stretch>
        </p:blipFill>
        <p:spPr>
          <a:xfrm>
            <a:off x="3923500" y="4484950"/>
            <a:ext cx="3190529" cy="615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018"/>
                                        </p:tgtEl>
                                        <p:attrNameLst>
                                          <p:attrName>style.visibility</p:attrName>
                                        </p:attrNameLst>
                                      </p:cBhvr>
                                      <p:to>
                                        <p:strVal val="visible"/>
                                      </p:to>
                                    </p:set>
                                    <p:anim calcmode="lin" valueType="num">
                                      <p:cBhvr additive="base">
                                        <p:cTn dur="3200"/>
                                        <p:tgtEl>
                                          <p:spTgt spid="101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46"/>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036" name="Google Shape;1036;p46"/>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1037" name="Google Shape;1037;p46"/>
          <p:cNvGrpSpPr/>
          <p:nvPr/>
        </p:nvGrpSpPr>
        <p:grpSpPr>
          <a:xfrm>
            <a:off x="8478" y="-16428"/>
            <a:ext cx="2530797" cy="5286523"/>
            <a:chOff x="-145370" y="0"/>
            <a:chExt cx="3374396" cy="7048698"/>
          </a:xfrm>
        </p:grpSpPr>
        <p:grpSp>
          <p:nvGrpSpPr>
            <p:cNvPr id="1038" name="Google Shape;1038;p46"/>
            <p:cNvGrpSpPr/>
            <p:nvPr/>
          </p:nvGrpSpPr>
          <p:grpSpPr>
            <a:xfrm>
              <a:off x="-145370" y="0"/>
              <a:ext cx="3374396" cy="7048698"/>
              <a:chOff x="-145370" y="0"/>
              <a:chExt cx="3374396" cy="7048698"/>
            </a:xfrm>
          </p:grpSpPr>
          <p:grpSp>
            <p:nvGrpSpPr>
              <p:cNvPr id="1039" name="Google Shape;1039;p46"/>
              <p:cNvGrpSpPr/>
              <p:nvPr/>
            </p:nvGrpSpPr>
            <p:grpSpPr>
              <a:xfrm>
                <a:off x="-145370" y="0"/>
                <a:ext cx="3374396" cy="7048698"/>
                <a:chOff x="-145370" y="0"/>
                <a:chExt cx="3374396" cy="7048698"/>
              </a:xfrm>
            </p:grpSpPr>
            <p:grpSp>
              <p:nvGrpSpPr>
                <p:cNvPr id="1040" name="Google Shape;1040;p46"/>
                <p:cNvGrpSpPr/>
                <p:nvPr/>
              </p:nvGrpSpPr>
              <p:grpSpPr>
                <a:xfrm>
                  <a:off x="-145370" y="190698"/>
                  <a:ext cx="3374396" cy="6858000"/>
                  <a:chOff x="4791660" y="190698"/>
                  <a:chExt cx="3374396" cy="6858000"/>
                </a:xfrm>
              </p:grpSpPr>
              <p:sp>
                <p:nvSpPr>
                  <p:cNvPr id="1041" name="Google Shape;1041;p46"/>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042" name="Google Shape;1042;p46"/>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1043" name="Google Shape;1043;p46"/>
                  <p:cNvGrpSpPr/>
                  <p:nvPr/>
                </p:nvGrpSpPr>
                <p:grpSpPr>
                  <a:xfrm>
                    <a:off x="4795354" y="2086871"/>
                    <a:ext cx="3205536" cy="523200"/>
                    <a:chOff x="4798571" y="2086871"/>
                    <a:chExt cx="3205536" cy="523200"/>
                  </a:xfrm>
                </p:grpSpPr>
                <p:sp>
                  <p:nvSpPr>
                    <p:cNvPr id="1044" name="Google Shape;1044;p46"/>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045" name="Google Shape;1045;p46"/>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1046" name="Google Shape;1046;p46"/>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1047" name="Google Shape;1047;p46"/>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1048" name="Google Shape;1048;p46"/>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1049" name="Google Shape;1049;p46"/>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1050" name="Google Shape;1050;p46"/>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1051" name="Google Shape;1051;p46"/>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1052" name="Google Shape;1052;p46"/>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1053" name="Google Shape;1053;p46"/>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054" name="Google Shape;1054;p46"/>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055" name="Google Shape;1055;p46"/>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1056" name="Google Shape;1056;p46"/>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1057" name="Google Shape;1057;p46"/>
          <p:cNvSpPr txBox="1"/>
          <p:nvPr/>
        </p:nvSpPr>
        <p:spPr>
          <a:xfrm>
            <a:off x="2591475" y="886725"/>
            <a:ext cx="6444900" cy="4407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fr" sz="1500">
                <a:solidFill>
                  <a:srgbClr val="3F3F3F"/>
                </a:solidFill>
                <a:latin typeface="Oswald"/>
                <a:ea typeface="Oswald"/>
                <a:cs typeface="Oswald"/>
                <a:sym typeface="Oswald"/>
              </a:rPr>
              <a:t>La matrice de confusion:</a:t>
            </a:r>
            <a:endParaRPr sz="1500">
              <a:solidFill>
                <a:srgbClr val="3F3F3F"/>
              </a:solidFill>
              <a:latin typeface="Oswald"/>
              <a:ea typeface="Oswald"/>
              <a:cs typeface="Oswald"/>
              <a:sym typeface="Oswald"/>
            </a:endParaRPr>
          </a:p>
          <a:p>
            <a:pPr indent="0" lvl="0" marL="0" marR="0" rtl="0" algn="ctr">
              <a:lnSpc>
                <a:spcPct val="100000"/>
              </a:lnSpc>
              <a:spcBef>
                <a:spcPts val="0"/>
              </a:spcBef>
              <a:spcAft>
                <a:spcPts val="0"/>
              </a:spcAft>
              <a:buClr>
                <a:srgbClr val="000000"/>
              </a:buClr>
              <a:buSzPts val="1500"/>
              <a:buFont typeface="Arial"/>
              <a:buNone/>
            </a:pPr>
            <a:r>
              <a:t/>
            </a:r>
            <a:endParaRPr sz="1500">
              <a:solidFill>
                <a:srgbClr val="3F3F3F"/>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endParaRPr b="0" i="0" sz="1100" u="none" cap="none" strike="noStrike">
              <a:solidFill>
                <a:srgbClr val="000000"/>
              </a:solidFill>
              <a:latin typeface="Arial"/>
              <a:ea typeface="Arial"/>
              <a:cs typeface="Arial"/>
              <a:sym typeface="Arial"/>
            </a:endParaRPr>
          </a:p>
        </p:txBody>
      </p:sp>
      <p:sp>
        <p:nvSpPr>
          <p:cNvPr id="1058" name="Google Shape;1058;p46">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059" name="Google Shape;1059;p46"/>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1060" name="Google Shape;1060;p46"/>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1061" name="Google Shape;1061;p46"/>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1062" name="Google Shape;1062;p46"/>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063" name="Google Shape;1063;p46"/>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1064" name="Google Shape;1064;p46"/>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1065" name="Google Shape;1065;p46"/>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066" name="Google Shape;1066;p46"/>
          <p:cNvSpPr/>
          <p:nvPr/>
        </p:nvSpPr>
        <p:spPr>
          <a:xfrm>
            <a:off x="1288" y="3289125"/>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1067" name="Google Shape;1067;p46"/>
          <p:cNvGrpSpPr/>
          <p:nvPr/>
        </p:nvGrpSpPr>
        <p:grpSpPr>
          <a:xfrm>
            <a:off x="8569469" y="4612769"/>
            <a:ext cx="605159" cy="530965"/>
            <a:chOff x="6229560" y="3783450"/>
            <a:chExt cx="841200" cy="841200"/>
          </a:xfrm>
        </p:grpSpPr>
        <p:sp>
          <p:nvSpPr>
            <p:cNvPr id="1068" name="Google Shape;1068;p46"/>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069" name="Google Shape;1069;p46"/>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22</a:t>
              </a:r>
              <a:endParaRPr b="0" i="0" sz="1400" u="none" cap="none" strike="noStrike">
                <a:solidFill>
                  <a:schemeClr val="lt1"/>
                </a:solidFill>
                <a:latin typeface="Oswald"/>
                <a:ea typeface="Oswald"/>
                <a:cs typeface="Oswald"/>
                <a:sym typeface="Oswald"/>
              </a:endParaRPr>
            </a:p>
          </p:txBody>
        </p:sp>
      </p:grpSp>
      <p:sp>
        <p:nvSpPr>
          <p:cNvPr id="1070" name="Google Shape;1070;p46"/>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071" name="Google Shape;1071;p46"/>
          <p:cNvSpPr txBox="1"/>
          <p:nvPr/>
        </p:nvSpPr>
        <p:spPr>
          <a:xfrm>
            <a:off x="61650" y="2812825"/>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1072" name="Google Shape;1072;p46"/>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1073" name="Google Shape;1073;p46"/>
          <p:cNvSpPr txBox="1"/>
          <p:nvPr/>
        </p:nvSpPr>
        <p:spPr>
          <a:xfrm>
            <a:off x="2473275" y="-102675"/>
            <a:ext cx="355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lt1"/>
              </a:solidFill>
            </a:endParaRPr>
          </a:p>
        </p:txBody>
      </p:sp>
      <p:sp>
        <p:nvSpPr>
          <p:cNvPr id="1074" name="Google Shape;1074;p46"/>
          <p:cNvSpPr txBox="1"/>
          <p:nvPr/>
        </p:nvSpPr>
        <p:spPr>
          <a:xfrm>
            <a:off x="2400700" y="-102675"/>
            <a:ext cx="670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
                <a:solidFill>
                  <a:schemeClr val="lt1"/>
                </a:solidFill>
              </a:rPr>
              <a:t>Evaluation de la performance du modèle</a:t>
            </a:r>
            <a:endParaRPr/>
          </a:p>
        </p:txBody>
      </p:sp>
      <p:sp>
        <p:nvSpPr>
          <p:cNvPr id="1075" name="Google Shape;1075;p46"/>
          <p:cNvSpPr txBox="1"/>
          <p:nvPr/>
        </p:nvSpPr>
        <p:spPr>
          <a:xfrm>
            <a:off x="3430575" y="4505975"/>
            <a:ext cx="560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dk1"/>
                </a:solidFill>
                <a:latin typeface="Georgia"/>
                <a:ea typeface="Georgia"/>
                <a:cs typeface="Georgia"/>
                <a:sym typeface="Georgia"/>
              </a:rPr>
              <a:t> .</a:t>
            </a:r>
            <a:endParaRPr/>
          </a:p>
        </p:txBody>
      </p:sp>
      <p:pic>
        <p:nvPicPr>
          <p:cNvPr id="1076" name="Google Shape;1076;p46"/>
          <p:cNvPicPr preferRelativeResize="0"/>
          <p:nvPr/>
        </p:nvPicPr>
        <p:blipFill>
          <a:blip r:embed="rId5">
            <a:alphaModFix/>
          </a:blip>
          <a:stretch>
            <a:fillRect/>
          </a:stretch>
        </p:blipFill>
        <p:spPr>
          <a:xfrm>
            <a:off x="2713825" y="1273438"/>
            <a:ext cx="3352800" cy="1000125"/>
          </a:xfrm>
          <a:prstGeom prst="rect">
            <a:avLst/>
          </a:prstGeom>
          <a:noFill/>
          <a:ln>
            <a:noFill/>
          </a:ln>
        </p:spPr>
      </p:pic>
      <p:pic>
        <p:nvPicPr>
          <p:cNvPr id="1077" name="Google Shape;1077;p46"/>
          <p:cNvPicPr preferRelativeResize="0"/>
          <p:nvPr/>
        </p:nvPicPr>
        <p:blipFill>
          <a:blip r:embed="rId6">
            <a:alphaModFix/>
          </a:blip>
          <a:stretch>
            <a:fillRect/>
          </a:stretch>
        </p:blipFill>
        <p:spPr>
          <a:xfrm>
            <a:off x="2713813" y="2482600"/>
            <a:ext cx="2771775" cy="304800"/>
          </a:xfrm>
          <a:prstGeom prst="rect">
            <a:avLst/>
          </a:prstGeom>
          <a:noFill/>
          <a:ln>
            <a:noFill/>
          </a:ln>
        </p:spPr>
      </p:pic>
      <p:pic>
        <p:nvPicPr>
          <p:cNvPr id="1078" name="Google Shape;1078;p46"/>
          <p:cNvPicPr preferRelativeResize="0"/>
          <p:nvPr/>
        </p:nvPicPr>
        <p:blipFill>
          <a:blip r:embed="rId7">
            <a:alphaModFix/>
          </a:blip>
          <a:stretch>
            <a:fillRect/>
          </a:stretch>
        </p:blipFill>
        <p:spPr>
          <a:xfrm>
            <a:off x="2400699" y="3156150"/>
            <a:ext cx="6707400" cy="828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066"/>
                                        </p:tgtEl>
                                        <p:attrNameLst>
                                          <p:attrName>style.visibility</p:attrName>
                                        </p:attrNameLst>
                                      </p:cBhvr>
                                      <p:to>
                                        <p:strVal val="visible"/>
                                      </p:to>
                                    </p:set>
                                    <p:anim calcmode="lin" valueType="num">
                                      <p:cBhvr additive="base">
                                        <p:cTn dur="3200"/>
                                        <p:tgtEl>
                                          <p:spTgt spid="106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47"/>
          <p:cNvSpPr/>
          <p:nvPr/>
        </p:nvSpPr>
        <p:spPr>
          <a:xfrm>
            <a:off x="-22870" y="-51682"/>
            <a:ext cx="9350700" cy="746100"/>
          </a:xfrm>
          <a:prstGeom prst="rect">
            <a:avLst/>
          </a:prstGeom>
          <a:solidFill>
            <a:srgbClr val="007785"/>
          </a:solidFill>
          <a:ln>
            <a:noFill/>
          </a:ln>
          <a:effectLst>
            <a:outerShdw blurRad="127000" rotWithShape="0" algn="t" dir="5400000" dist="38100">
              <a:srgbClr val="000000">
                <a:alpha val="4471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085" name="Google Shape;1085;p47"/>
          <p:cNvSpPr/>
          <p:nvPr/>
        </p:nvSpPr>
        <p:spPr>
          <a:xfrm>
            <a:off x="245301" y="345514"/>
            <a:ext cx="277563" cy="182400"/>
          </a:xfrm>
          <a:custGeom>
            <a:rect b="b" l="l" r="r" t="t"/>
            <a:pathLst>
              <a:path extrusionOk="0" h="304" w="461">
                <a:moveTo>
                  <a:pt x="0" y="303"/>
                </a:moveTo>
                <a:lnTo>
                  <a:pt x="460" y="303"/>
                </a:lnTo>
                <a:lnTo>
                  <a:pt x="460" y="254"/>
                </a:lnTo>
                <a:lnTo>
                  <a:pt x="0" y="254"/>
                </a:lnTo>
                <a:lnTo>
                  <a:pt x="0" y="303"/>
                </a:lnTo>
                <a:close/>
                <a:moveTo>
                  <a:pt x="0" y="176"/>
                </a:moveTo>
                <a:lnTo>
                  <a:pt x="460" y="176"/>
                </a:lnTo>
                <a:lnTo>
                  <a:pt x="460" y="127"/>
                </a:lnTo>
                <a:lnTo>
                  <a:pt x="0" y="127"/>
                </a:lnTo>
                <a:lnTo>
                  <a:pt x="0" y="176"/>
                </a:lnTo>
                <a:close/>
                <a:moveTo>
                  <a:pt x="0" y="0"/>
                </a:moveTo>
                <a:lnTo>
                  <a:pt x="0" y="49"/>
                </a:lnTo>
                <a:lnTo>
                  <a:pt x="460" y="49"/>
                </a:lnTo>
                <a:lnTo>
                  <a:pt x="460" y="0"/>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grpSp>
        <p:nvGrpSpPr>
          <p:cNvPr id="1086" name="Google Shape;1086;p47"/>
          <p:cNvGrpSpPr/>
          <p:nvPr/>
        </p:nvGrpSpPr>
        <p:grpSpPr>
          <a:xfrm>
            <a:off x="8478" y="-16428"/>
            <a:ext cx="2530797" cy="5286523"/>
            <a:chOff x="-145370" y="0"/>
            <a:chExt cx="3374396" cy="7048698"/>
          </a:xfrm>
        </p:grpSpPr>
        <p:grpSp>
          <p:nvGrpSpPr>
            <p:cNvPr id="1087" name="Google Shape;1087;p47"/>
            <p:cNvGrpSpPr/>
            <p:nvPr/>
          </p:nvGrpSpPr>
          <p:grpSpPr>
            <a:xfrm>
              <a:off x="-145370" y="0"/>
              <a:ext cx="3374396" cy="7048698"/>
              <a:chOff x="-145370" y="0"/>
              <a:chExt cx="3374396" cy="7048698"/>
            </a:xfrm>
          </p:grpSpPr>
          <p:grpSp>
            <p:nvGrpSpPr>
              <p:cNvPr id="1088" name="Google Shape;1088;p47"/>
              <p:cNvGrpSpPr/>
              <p:nvPr/>
            </p:nvGrpSpPr>
            <p:grpSpPr>
              <a:xfrm>
                <a:off x="-145370" y="0"/>
                <a:ext cx="3374396" cy="7048698"/>
                <a:chOff x="-145370" y="0"/>
                <a:chExt cx="3374396" cy="7048698"/>
              </a:xfrm>
            </p:grpSpPr>
            <p:grpSp>
              <p:nvGrpSpPr>
                <p:cNvPr id="1089" name="Google Shape;1089;p47"/>
                <p:cNvGrpSpPr/>
                <p:nvPr/>
              </p:nvGrpSpPr>
              <p:grpSpPr>
                <a:xfrm>
                  <a:off x="-145370" y="190698"/>
                  <a:ext cx="3374396" cy="6858000"/>
                  <a:chOff x="4791660" y="190698"/>
                  <a:chExt cx="3374396" cy="6858000"/>
                </a:xfrm>
              </p:grpSpPr>
              <p:sp>
                <p:nvSpPr>
                  <p:cNvPr id="1090" name="Google Shape;1090;p47"/>
                  <p:cNvSpPr/>
                  <p:nvPr/>
                </p:nvSpPr>
                <p:spPr>
                  <a:xfrm>
                    <a:off x="4791660" y="190698"/>
                    <a:ext cx="3156000" cy="6858000"/>
                  </a:xfrm>
                  <a:prstGeom prst="rect">
                    <a:avLst/>
                  </a:prstGeom>
                  <a:solidFill>
                    <a:schemeClr val="lt1"/>
                  </a:solidFill>
                  <a:ln>
                    <a:noFill/>
                  </a:ln>
                  <a:effectLst>
                    <a:outerShdw blurRad="254000" sx="102000" rotWithShape="0" algn="ctr" sy="102000">
                      <a:srgbClr val="000000">
                        <a:alpha val="4549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091" name="Google Shape;1091;p47"/>
                  <p:cNvSpPr txBox="1"/>
                  <p:nvPr/>
                </p:nvSpPr>
                <p:spPr>
                  <a:xfrm>
                    <a:off x="5656614" y="1194717"/>
                    <a:ext cx="1051800" cy="338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lt1"/>
                        </a:solidFill>
                        <a:latin typeface="Roboto"/>
                        <a:ea typeface="Roboto"/>
                        <a:cs typeface="Roboto"/>
                        <a:sym typeface="Roboto"/>
                      </a:rPr>
                      <a:t>Headings</a:t>
                    </a:r>
                    <a:endParaRPr b="0" i="0" sz="900" u="none" cap="none" strike="noStrike">
                      <a:solidFill>
                        <a:schemeClr val="lt1"/>
                      </a:solidFill>
                      <a:latin typeface="Roboto Light"/>
                      <a:ea typeface="Roboto Light"/>
                      <a:cs typeface="Roboto Light"/>
                      <a:sym typeface="Roboto Light"/>
                    </a:endParaRPr>
                  </a:p>
                </p:txBody>
              </p:sp>
              <p:grpSp>
                <p:nvGrpSpPr>
                  <p:cNvPr id="1092" name="Google Shape;1092;p47"/>
                  <p:cNvGrpSpPr/>
                  <p:nvPr/>
                </p:nvGrpSpPr>
                <p:grpSpPr>
                  <a:xfrm>
                    <a:off x="4795354" y="2086871"/>
                    <a:ext cx="3205536" cy="523200"/>
                    <a:chOff x="4798571" y="2086871"/>
                    <a:chExt cx="3205536" cy="523200"/>
                  </a:xfrm>
                </p:grpSpPr>
                <p:sp>
                  <p:nvSpPr>
                    <p:cNvPr id="1093" name="Google Shape;1093;p47"/>
                    <p:cNvSpPr/>
                    <p:nvPr/>
                  </p:nvSpPr>
                  <p:spPr>
                    <a:xfrm>
                      <a:off x="4798571" y="2163373"/>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094" name="Google Shape;1094;p47"/>
                    <p:cNvSpPr txBox="1"/>
                    <p:nvPr/>
                  </p:nvSpPr>
                  <p:spPr>
                    <a:xfrm>
                      <a:off x="4903907" y="2086871"/>
                      <a:ext cx="3100200" cy="52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Introduction &amp; Problématique</a:t>
                      </a:r>
                      <a:endParaRPr b="1"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1095" name="Google Shape;1095;p47"/>
                  <p:cNvSpPr txBox="1"/>
                  <p:nvPr/>
                </p:nvSpPr>
                <p:spPr>
                  <a:xfrm>
                    <a:off x="4889156" y="3275704"/>
                    <a:ext cx="3276900" cy="3078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Roboto"/>
                        <a:ea typeface="Roboto"/>
                        <a:cs typeface="Roboto"/>
                        <a:sym typeface="Roboto"/>
                      </a:rPr>
                      <a:t>Analyse en composantes principales</a:t>
                    </a:r>
                    <a:endParaRPr b="0" i="0" sz="1100" u="none" cap="none" strike="noStrike">
                      <a:solidFill>
                        <a:srgbClr val="3F3F3F"/>
                      </a:solidFill>
                      <a:latin typeface="Roboto"/>
                      <a:ea typeface="Roboto"/>
                      <a:cs typeface="Roboto"/>
                      <a:sym typeface="Roboto"/>
                    </a:endParaRPr>
                  </a:p>
                </p:txBody>
              </p:sp>
              <p:sp>
                <p:nvSpPr>
                  <p:cNvPr id="1096" name="Google Shape;1096;p47"/>
                  <p:cNvSpPr/>
                  <p:nvPr/>
                </p:nvSpPr>
                <p:spPr>
                  <a:xfrm>
                    <a:off x="4795371" y="4566712"/>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pic>
              <p:nvPicPr>
                <p:cNvPr id="1097" name="Google Shape;1097;p47"/>
                <p:cNvPicPr preferRelativeResize="0"/>
                <p:nvPr/>
              </p:nvPicPr>
              <p:blipFill rotWithShape="1">
                <a:blip r:embed="rId3">
                  <a:alphaModFix/>
                </a:blip>
                <a:srcRect b="0" l="0" r="0" t="0"/>
                <a:stretch/>
              </p:blipFill>
              <p:spPr>
                <a:xfrm>
                  <a:off x="-142601" y="0"/>
                  <a:ext cx="3153771" cy="1774162"/>
                </a:xfrm>
                <a:prstGeom prst="rect">
                  <a:avLst/>
                </a:prstGeom>
                <a:noFill/>
                <a:ln>
                  <a:noFill/>
                </a:ln>
              </p:spPr>
            </p:pic>
          </p:grpSp>
          <p:sp>
            <p:nvSpPr>
              <p:cNvPr id="1098" name="Google Shape;1098;p47"/>
              <p:cNvSpPr txBox="1"/>
              <p:nvPr/>
            </p:nvSpPr>
            <p:spPr>
              <a:xfrm>
                <a:off x="389205" y="2652212"/>
                <a:ext cx="18213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grpSp>
        <p:sp>
          <p:nvSpPr>
            <p:cNvPr id="1099" name="Google Shape;1099;p47"/>
            <p:cNvSpPr txBox="1"/>
            <p:nvPr/>
          </p:nvSpPr>
          <p:spPr>
            <a:xfrm>
              <a:off x="-36341" y="5054471"/>
              <a:ext cx="2088900" cy="30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chemeClr val="dk1"/>
                  </a:solidFill>
                  <a:latin typeface="Roboto"/>
                  <a:ea typeface="Roboto"/>
                  <a:cs typeface="Roboto"/>
                  <a:sym typeface="Roboto"/>
                </a:rPr>
                <a:t>C</a:t>
              </a:r>
              <a:r>
                <a:rPr b="1" lang="fr" sz="1100">
                  <a:solidFill>
                    <a:schemeClr val="dk1"/>
                  </a:solidFill>
                  <a:latin typeface="Roboto"/>
                  <a:ea typeface="Roboto"/>
                  <a:cs typeface="Roboto"/>
                  <a:sym typeface="Roboto"/>
                </a:rPr>
                <a:t>onclusion</a:t>
              </a:r>
              <a:endParaRPr b="1" i="0" sz="1100" u="none" cap="none" strike="noStrike">
                <a:solidFill>
                  <a:schemeClr val="dk1"/>
                </a:solidFill>
                <a:latin typeface="Roboto"/>
                <a:ea typeface="Roboto"/>
                <a:cs typeface="Roboto"/>
                <a:sym typeface="Roboto"/>
              </a:endParaRPr>
            </a:p>
          </p:txBody>
        </p:sp>
        <p:sp>
          <p:nvSpPr>
            <p:cNvPr id="1100" name="Google Shape;1100;p47"/>
            <p:cNvSpPr/>
            <p:nvPr/>
          </p:nvSpPr>
          <p:spPr>
            <a:xfrm>
              <a:off x="-141659" y="5116394"/>
              <a:ext cx="156124" cy="156124"/>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sp>
        <p:nvSpPr>
          <p:cNvPr id="1101" name="Google Shape;1101;p47"/>
          <p:cNvSpPr txBox="1"/>
          <p:nvPr/>
        </p:nvSpPr>
        <p:spPr>
          <a:xfrm>
            <a:off x="2873650" y="255138"/>
            <a:ext cx="156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swald"/>
              <a:ea typeface="Oswald"/>
              <a:cs typeface="Oswald"/>
              <a:sym typeface="Oswald"/>
            </a:endParaRPr>
          </a:p>
        </p:txBody>
      </p:sp>
      <p:sp>
        <p:nvSpPr>
          <p:cNvPr id="1102" name="Google Shape;1102;p47"/>
          <p:cNvSpPr txBox="1"/>
          <p:nvPr/>
        </p:nvSpPr>
        <p:spPr>
          <a:xfrm>
            <a:off x="8382737" y="4451663"/>
            <a:ext cx="2466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103" name="Google Shape;1103;p47"/>
          <p:cNvSpPr/>
          <p:nvPr/>
        </p:nvSpPr>
        <p:spPr>
          <a:xfrm>
            <a:off x="11249" y="-59198"/>
            <a:ext cx="9350700" cy="268500"/>
          </a:xfrm>
          <a:prstGeom prst="rect">
            <a:avLst/>
          </a:prstGeom>
          <a:solidFill>
            <a:srgbClr val="000000">
              <a:alpha val="2940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0"/>
              <a:buFont typeface="Arial"/>
              <a:buNone/>
            </a:pPr>
            <a:r>
              <a:t/>
            </a:r>
            <a:endParaRPr b="0" i="0" sz="5000" u="none" cap="none" strike="noStrike">
              <a:solidFill>
                <a:schemeClr val="lt1"/>
              </a:solidFill>
              <a:latin typeface="Oswald"/>
              <a:ea typeface="Oswald"/>
              <a:cs typeface="Oswald"/>
              <a:sym typeface="Oswald"/>
            </a:endParaRPr>
          </a:p>
        </p:txBody>
      </p:sp>
      <p:sp>
        <p:nvSpPr>
          <p:cNvPr id="1104" name="Google Shape;1104;p47"/>
          <p:cNvSpPr txBox="1"/>
          <p:nvPr/>
        </p:nvSpPr>
        <p:spPr>
          <a:xfrm>
            <a:off x="279147" y="-17925"/>
            <a:ext cx="9885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chemeClr val="lt1"/>
                </a:solidFill>
                <a:latin typeface="Oswald"/>
                <a:ea typeface="Oswald"/>
                <a:cs typeface="Oswald"/>
                <a:sym typeface="Oswald"/>
              </a:rPr>
              <a:t>OpenClassrooms</a:t>
            </a:r>
            <a:endParaRPr b="0" i="0" sz="800" u="none" cap="none" strike="noStrike">
              <a:solidFill>
                <a:schemeClr val="lt1"/>
              </a:solidFill>
              <a:latin typeface="Oswald"/>
              <a:ea typeface="Oswald"/>
              <a:cs typeface="Oswald"/>
              <a:sym typeface="Oswald"/>
            </a:endParaRPr>
          </a:p>
        </p:txBody>
      </p:sp>
      <p:sp>
        <p:nvSpPr>
          <p:cNvPr id="1105" name="Google Shape;1105;p47"/>
          <p:cNvSpPr txBox="1"/>
          <p:nvPr/>
        </p:nvSpPr>
        <p:spPr>
          <a:xfrm>
            <a:off x="7752523" y="-17937"/>
            <a:ext cx="106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Oswald"/>
              <a:ea typeface="Oswald"/>
              <a:cs typeface="Oswald"/>
              <a:sym typeface="Oswald"/>
            </a:endParaRPr>
          </a:p>
        </p:txBody>
      </p:sp>
      <p:sp>
        <p:nvSpPr>
          <p:cNvPr id="1106" name="Google Shape;1106;p47"/>
          <p:cNvSpPr txBox="1"/>
          <p:nvPr/>
        </p:nvSpPr>
        <p:spPr>
          <a:xfrm>
            <a:off x="2595191" y="961901"/>
            <a:ext cx="6444900" cy="5310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3F3F3F"/>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endParaRPr b="0" i="0" sz="1100" u="none" cap="none" strike="noStrike">
              <a:solidFill>
                <a:srgbClr val="000000"/>
              </a:solidFill>
              <a:latin typeface="Arial"/>
              <a:ea typeface="Arial"/>
              <a:cs typeface="Arial"/>
              <a:sym typeface="Arial"/>
            </a:endParaRPr>
          </a:p>
        </p:txBody>
      </p:sp>
      <p:sp>
        <p:nvSpPr>
          <p:cNvPr id="1107" name="Google Shape;1107;p47">
            <a:hlinkClick action="ppaction://hlinksldjump" r:id="rId4"/>
          </p:cNvPr>
          <p:cNvSpPr/>
          <p:nvPr/>
        </p:nvSpPr>
        <p:spPr>
          <a:xfrm>
            <a:off x="25950" y="1919964"/>
            <a:ext cx="18609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swald"/>
              <a:ea typeface="Oswald"/>
              <a:cs typeface="Oswald"/>
              <a:sym typeface="Oswald"/>
            </a:endParaRPr>
          </a:p>
        </p:txBody>
      </p:sp>
      <p:sp>
        <p:nvSpPr>
          <p:cNvPr id="1108" name="Google Shape;1108;p47"/>
          <p:cNvSpPr/>
          <p:nvPr/>
        </p:nvSpPr>
        <p:spPr>
          <a:xfrm>
            <a:off x="-1358892" y="-276393"/>
            <a:ext cx="13602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5400"/>
              <a:buFont typeface="Arial"/>
              <a:buNone/>
            </a:pPr>
            <a:r>
              <a:t/>
            </a:r>
            <a:endParaRPr b="1" i="0" sz="5400" u="none" cap="none" strike="noStrike">
              <a:solidFill>
                <a:srgbClr val="007785"/>
              </a:solidFill>
              <a:latin typeface="Calibri"/>
              <a:ea typeface="Calibri"/>
              <a:cs typeface="Calibri"/>
              <a:sym typeface="Calibri"/>
            </a:endParaRPr>
          </a:p>
        </p:txBody>
      </p:sp>
      <p:sp>
        <p:nvSpPr>
          <p:cNvPr id="1109" name="Google Shape;1109;p47"/>
          <p:cNvSpPr/>
          <p:nvPr/>
        </p:nvSpPr>
        <p:spPr>
          <a:xfrm>
            <a:off x="25950" y="345525"/>
            <a:ext cx="14949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400"/>
              <a:buFont typeface="Arial"/>
              <a:buNone/>
            </a:pPr>
            <a:r>
              <a:rPr b="0" i="0" lang="fr" sz="5400" u="none" cap="none" strike="noStrike">
                <a:solidFill>
                  <a:srgbClr val="FFAEA3"/>
                </a:solidFill>
                <a:latin typeface="Calibri"/>
                <a:ea typeface="Calibri"/>
                <a:cs typeface="Calibri"/>
                <a:sym typeface="Calibri"/>
              </a:rPr>
              <a:t>A</a:t>
            </a:r>
            <a:r>
              <a:rPr b="0" i="0" lang="fr" sz="1800" u="none" cap="none" strike="noStrike">
                <a:solidFill>
                  <a:srgbClr val="00535D"/>
                </a:solidFill>
                <a:latin typeface="Calibri"/>
                <a:ea typeface="Calibri"/>
                <a:cs typeface="Calibri"/>
                <a:sym typeface="Calibri"/>
              </a:rPr>
              <a:t>nalyst</a:t>
            </a:r>
            <a:endParaRPr b="1" i="0" sz="1800" u="none" cap="none" strike="noStrike">
              <a:solidFill>
                <a:srgbClr val="00535D"/>
              </a:solidFill>
              <a:latin typeface="Calibri"/>
              <a:ea typeface="Calibri"/>
              <a:cs typeface="Calibri"/>
              <a:sym typeface="Calibri"/>
            </a:endParaRPr>
          </a:p>
        </p:txBody>
      </p:sp>
      <p:sp>
        <p:nvSpPr>
          <p:cNvPr id="1110" name="Google Shape;1110;p47"/>
          <p:cNvSpPr txBox="1"/>
          <p:nvPr/>
        </p:nvSpPr>
        <p:spPr>
          <a:xfrm>
            <a:off x="-211300" y="-217875"/>
            <a:ext cx="3143400" cy="981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fr" sz="1500" u="none" cap="none" strike="noStrike">
                <a:solidFill>
                  <a:srgbClr val="3F3F3F"/>
                </a:solidFill>
                <a:latin typeface="Oswald"/>
                <a:ea typeface="Oswald"/>
                <a:cs typeface="Oswald"/>
                <a:sym typeface="Oswald"/>
              </a:rPr>
              <a:t>	</a:t>
            </a:r>
            <a:r>
              <a:rPr b="0" i="0" lang="fr" sz="5400" u="none" cap="none" strike="noStrike">
                <a:solidFill>
                  <a:srgbClr val="FFAEA3"/>
                </a:solidFill>
                <a:latin typeface="Calibri"/>
                <a:ea typeface="Calibri"/>
                <a:cs typeface="Calibri"/>
                <a:sym typeface="Calibri"/>
              </a:rPr>
              <a:t>D</a:t>
            </a:r>
            <a:r>
              <a:rPr b="0" i="0" lang="fr" sz="1800" u="none" cap="none" strike="noStrike">
                <a:solidFill>
                  <a:srgbClr val="3F3F3F"/>
                </a:solidFill>
                <a:latin typeface="Calibri"/>
                <a:ea typeface="Calibri"/>
                <a:cs typeface="Calibri"/>
                <a:sym typeface="Calibri"/>
              </a:rPr>
              <a:t>ata</a:t>
            </a:r>
            <a:endParaRPr b="0" i="0" sz="1800" u="none" cap="none" strike="noStrike">
              <a:solidFill>
                <a:srgbClr val="3F3F3F"/>
              </a:solidFill>
              <a:latin typeface="Calibri"/>
              <a:ea typeface="Calibri"/>
              <a:cs typeface="Calibri"/>
              <a:sym typeface="Calibri"/>
            </a:endParaRPr>
          </a:p>
        </p:txBody>
      </p:sp>
      <p:sp>
        <p:nvSpPr>
          <p:cNvPr id="1111" name="Google Shape;1111;p47"/>
          <p:cNvSpPr/>
          <p:nvPr/>
        </p:nvSpPr>
        <p:spPr>
          <a:xfrm>
            <a:off x="11241" y="2491467"/>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112" name="Google Shape;1112;p47"/>
          <p:cNvSpPr txBox="1"/>
          <p:nvPr/>
        </p:nvSpPr>
        <p:spPr>
          <a:xfrm>
            <a:off x="61650" y="2001875"/>
            <a:ext cx="2457600" cy="21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lang="fr" sz="1100">
                <a:solidFill>
                  <a:schemeClr val="dk1"/>
                </a:solidFill>
                <a:latin typeface="Roboto"/>
                <a:ea typeface="Roboto"/>
                <a:cs typeface="Roboto"/>
                <a:sym typeface="Roboto"/>
              </a:rPr>
              <a:t> Analyse des données</a:t>
            </a:r>
            <a:endParaRPr b="1" i="0" sz="1100" u="none" cap="none" strike="noStrike">
              <a:solidFill>
                <a:schemeClr val="dk1"/>
              </a:solidFill>
              <a:latin typeface="Roboto"/>
              <a:ea typeface="Roboto"/>
              <a:cs typeface="Roboto"/>
              <a:sym typeface="Roboto"/>
            </a:endParaRPr>
          </a:p>
        </p:txBody>
      </p:sp>
      <p:sp>
        <p:nvSpPr>
          <p:cNvPr id="1113" name="Google Shape;1113;p47"/>
          <p:cNvSpPr txBox="1"/>
          <p:nvPr/>
        </p:nvSpPr>
        <p:spPr>
          <a:xfrm>
            <a:off x="-1697240" y="2812829"/>
            <a:ext cx="17589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Roboto"/>
              <a:ea typeface="Roboto"/>
              <a:cs typeface="Roboto"/>
              <a:sym typeface="Roboto"/>
            </a:endParaRPr>
          </a:p>
        </p:txBody>
      </p:sp>
      <p:sp>
        <p:nvSpPr>
          <p:cNvPr id="1114" name="Google Shape;1114;p47"/>
          <p:cNvSpPr/>
          <p:nvPr/>
        </p:nvSpPr>
        <p:spPr>
          <a:xfrm>
            <a:off x="11250" y="2072475"/>
            <a:ext cx="117075" cy="10446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115" name="Google Shape;1115;p47"/>
          <p:cNvSpPr/>
          <p:nvPr/>
        </p:nvSpPr>
        <p:spPr>
          <a:xfrm>
            <a:off x="-12" y="3726425"/>
            <a:ext cx="2399400" cy="346200"/>
          </a:xfrm>
          <a:prstGeom prst="rect">
            <a:avLst/>
          </a:prstGeom>
          <a:solidFill>
            <a:srgbClr val="A5A5A5">
              <a:alpha val="2940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Oswald"/>
              <a:ea typeface="Oswald"/>
              <a:cs typeface="Oswald"/>
              <a:sym typeface="Oswald"/>
            </a:endParaRPr>
          </a:p>
        </p:txBody>
      </p:sp>
      <p:grpSp>
        <p:nvGrpSpPr>
          <p:cNvPr id="1116" name="Google Shape;1116;p47"/>
          <p:cNvGrpSpPr/>
          <p:nvPr/>
        </p:nvGrpSpPr>
        <p:grpSpPr>
          <a:xfrm>
            <a:off x="8569469" y="4612769"/>
            <a:ext cx="605159" cy="530965"/>
            <a:chOff x="6229560" y="3783450"/>
            <a:chExt cx="841200" cy="841200"/>
          </a:xfrm>
        </p:grpSpPr>
        <p:sp>
          <p:nvSpPr>
            <p:cNvPr id="1117" name="Google Shape;1117;p47"/>
            <p:cNvSpPr/>
            <p:nvPr/>
          </p:nvSpPr>
          <p:spPr>
            <a:xfrm>
              <a:off x="6229560" y="3783450"/>
              <a:ext cx="841200" cy="841200"/>
            </a:xfrm>
            <a:prstGeom prst="ellipse">
              <a:avLst/>
            </a:prstGeom>
            <a:solidFill>
              <a:srgbClr val="FF4229"/>
            </a:solidFill>
            <a:ln>
              <a:noFill/>
            </a:ln>
            <a:effectLst>
              <a:outerShdw blurRad="101600" rotWithShape="0" algn="t" dir="5400000" dist="25400">
                <a:srgbClr val="000000">
                  <a:alpha val="4549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swald"/>
                <a:ea typeface="Oswald"/>
                <a:cs typeface="Oswald"/>
                <a:sym typeface="Oswald"/>
              </a:endParaRPr>
            </a:p>
          </p:txBody>
        </p:sp>
        <p:sp>
          <p:nvSpPr>
            <p:cNvPr id="1118" name="Google Shape;1118;p47"/>
            <p:cNvSpPr txBox="1"/>
            <p:nvPr/>
          </p:nvSpPr>
          <p:spPr>
            <a:xfrm>
              <a:off x="6485680" y="3973216"/>
              <a:ext cx="497700" cy="109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fr" sz="1800">
                  <a:solidFill>
                    <a:schemeClr val="lt1"/>
                  </a:solidFill>
                  <a:latin typeface="Oswald"/>
                  <a:ea typeface="Oswald"/>
                  <a:cs typeface="Oswald"/>
                  <a:sym typeface="Oswald"/>
                </a:rPr>
                <a:t>23</a:t>
              </a:r>
              <a:endParaRPr b="0" i="0" sz="1400" u="none" cap="none" strike="noStrike">
                <a:solidFill>
                  <a:schemeClr val="lt1"/>
                </a:solidFill>
                <a:latin typeface="Oswald"/>
                <a:ea typeface="Oswald"/>
                <a:cs typeface="Oswald"/>
                <a:sym typeface="Oswald"/>
              </a:endParaRPr>
            </a:p>
          </p:txBody>
        </p:sp>
      </p:grpSp>
      <p:sp>
        <p:nvSpPr>
          <p:cNvPr id="1119" name="Google Shape;1119;p47"/>
          <p:cNvSpPr/>
          <p:nvPr/>
        </p:nvSpPr>
        <p:spPr>
          <a:xfrm>
            <a:off x="11249" y="2934606"/>
            <a:ext cx="117093" cy="117093"/>
          </a:xfrm>
          <a:custGeom>
            <a:rect b="b" l="l" r="r" t="t"/>
            <a:pathLst>
              <a:path extrusionOk="0" h="692" w="693">
                <a:moveTo>
                  <a:pt x="611" y="0"/>
                </a:moveTo>
                <a:lnTo>
                  <a:pt x="74" y="0"/>
                </a:lnTo>
                <a:cubicBezTo>
                  <a:pt x="30" y="0"/>
                  <a:pt x="0" y="37"/>
                  <a:pt x="0" y="81"/>
                </a:cubicBezTo>
                <a:lnTo>
                  <a:pt x="0" y="618"/>
                </a:lnTo>
                <a:cubicBezTo>
                  <a:pt x="0" y="662"/>
                  <a:pt x="30" y="691"/>
                  <a:pt x="74" y="691"/>
                </a:cubicBezTo>
                <a:lnTo>
                  <a:pt x="611" y="691"/>
                </a:lnTo>
                <a:cubicBezTo>
                  <a:pt x="655" y="691"/>
                  <a:pt x="692" y="662"/>
                  <a:pt x="692" y="618"/>
                </a:cubicBezTo>
                <a:lnTo>
                  <a:pt x="692" y="81"/>
                </a:lnTo>
                <a:cubicBezTo>
                  <a:pt x="692" y="37"/>
                  <a:pt x="655" y="0"/>
                  <a:pt x="611" y="0"/>
                </a:cubicBezTo>
                <a:close/>
                <a:moveTo>
                  <a:pt x="537" y="382"/>
                </a:moveTo>
                <a:lnTo>
                  <a:pt x="383" y="382"/>
                </a:lnTo>
                <a:lnTo>
                  <a:pt x="383" y="537"/>
                </a:lnTo>
                <a:lnTo>
                  <a:pt x="302" y="537"/>
                </a:lnTo>
                <a:lnTo>
                  <a:pt x="302" y="382"/>
                </a:lnTo>
                <a:lnTo>
                  <a:pt x="147" y="382"/>
                </a:lnTo>
                <a:lnTo>
                  <a:pt x="147" y="309"/>
                </a:lnTo>
                <a:lnTo>
                  <a:pt x="302" y="309"/>
                </a:lnTo>
                <a:lnTo>
                  <a:pt x="302" y="154"/>
                </a:lnTo>
                <a:lnTo>
                  <a:pt x="383" y="154"/>
                </a:lnTo>
                <a:lnTo>
                  <a:pt x="383" y="309"/>
                </a:lnTo>
                <a:lnTo>
                  <a:pt x="537" y="309"/>
                </a:lnTo>
                <a:lnTo>
                  <a:pt x="537" y="382"/>
                </a:lnTo>
                <a:close/>
              </a:path>
            </a:pathLst>
          </a:custGeom>
          <a:solidFill>
            <a:srgbClr val="3F3F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120" name="Google Shape;1120;p47"/>
          <p:cNvSpPr txBox="1"/>
          <p:nvPr/>
        </p:nvSpPr>
        <p:spPr>
          <a:xfrm>
            <a:off x="61650" y="2812825"/>
            <a:ext cx="212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Algorithme Kmeans</a:t>
            </a:r>
            <a:endParaRPr b="1" sz="1100">
              <a:latin typeface="Roboto Condensed"/>
              <a:ea typeface="Roboto Condensed"/>
              <a:cs typeface="Roboto Condensed"/>
              <a:sym typeface="Roboto Condensed"/>
            </a:endParaRPr>
          </a:p>
        </p:txBody>
      </p:sp>
      <p:sp>
        <p:nvSpPr>
          <p:cNvPr id="1121" name="Google Shape;1121;p47"/>
          <p:cNvSpPr txBox="1"/>
          <p:nvPr/>
        </p:nvSpPr>
        <p:spPr>
          <a:xfrm>
            <a:off x="54600" y="3285225"/>
            <a:ext cx="213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Roboto Condensed"/>
                <a:ea typeface="Roboto Condensed"/>
                <a:cs typeface="Roboto Condensed"/>
                <a:sym typeface="Roboto Condensed"/>
              </a:rPr>
              <a:t>Régression logistique</a:t>
            </a:r>
            <a:endParaRPr b="1" sz="1100">
              <a:latin typeface="Roboto Condensed"/>
              <a:ea typeface="Roboto Condensed"/>
              <a:cs typeface="Roboto Condensed"/>
              <a:sym typeface="Roboto Condensed"/>
            </a:endParaRPr>
          </a:p>
        </p:txBody>
      </p:sp>
      <p:sp>
        <p:nvSpPr>
          <p:cNvPr id="1122" name="Google Shape;1122;p47"/>
          <p:cNvSpPr txBox="1"/>
          <p:nvPr/>
        </p:nvSpPr>
        <p:spPr>
          <a:xfrm>
            <a:off x="2473275" y="-102675"/>
            <a:ext cx="355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lt1"/>
              </a:solidFill>
            </a:endParaRPr>
          </a:p>
        </p:txBody>
      </p:sp>
      <p:sp>
        <p:nvSpPr>
          <p:cNvPr id="1123" name="Google Shape;1123;p47"/>
          <p:cNvSpPr txBox="1"/>
          <p:nvPr/>
        </p:nvSpPr>
        <p:spPr>
          <a:xfrm>
            <a:off x="2400700" y="-102675"/>
            <a:ext cx="670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1"/>
                </a:solidFill>
              </a:rPr>
              <a:t> </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115"/>
                                        </p:tgtEl>
                                        <p:attrNameLst>
                                          <p:attrName>style.visibility</p:attrName>
                                        </p:attrNameLst>
                                      </p:cBhvr>
                                      <p:to>
                                        <p:strVal val="visible"/>
                                      </p:to>
                                    </p:set>
                                    <p:anim calcmode="lin" valueType="num">
                                      <p:cBhvr additive="base">
                                        <p:cTn dur="3200"/>
                                        <p:tgtEl>
                                          <p:spTgt spid="111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